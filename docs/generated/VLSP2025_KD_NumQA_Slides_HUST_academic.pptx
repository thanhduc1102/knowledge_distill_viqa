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1"/>
  </p:notesMasterIdLst>
  <p:handoutMasterIdLst>
    <p:handoutMasterId r:id="rId32"/>
  </p:handoutMasterIdLst>
  <p:sldIdLst>
    <p:sldId id="284" r:id="rId2"/>
    <p:sldId id="28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05/23/2026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05/23/2026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795527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400" b="1" i="0">
                <a:solidFill>
                  <a:srgbClr val="A50021"/>
                </a:solidFill>
                <a:latin typeface="Arial"/>
              </a:rPr>
              <a:t>VLSP 2025 NumQA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7955279" cy="7772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2700" b="1" i="0">
                <a:solidFill>
                  <a:srgbClr val="1E1E1E"/>
                </a:solidFill>
                <a:latin typeface="Arial"/>
              </a:rPr>
              <a:t>Tối ưu mô hình suy luận số học tài chính tiếng Việt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74066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500" b="0" i="0">
                <a:solidFill>
                  <a:srgbClr val="585858"/>
                </a:solidFill>
                <a:latin typeface="Arial"/>
              </a:rPr>
              <a:t>Knowledge Distillation + LoRA-SFT + GRPO/PCPO + Verifier-guided Inference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2880360"/>
            <a:ext cx="6858000" cy="0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68680" y="3337560"/>
            <a:ext cx="134965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50" b="1">
                <a:solidFill>
                  <a:srgbClr val="A50021"/>
                </a:solidFill>
                <a:latin typeface="Arial"/>
              </a:rPr>
              <a:t>Text + Table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36622" y="3621024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382926" y="3337560"/>
            <a:ext cx="134965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50" b="1">
                <a:solidFill>
                  <a:srgbClr val="A50021"/>
                </a:solidFill>
                <a:latin typeface="Arial"/>
              </a:rPr>
              <a:t>DSL Program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50868" y="3621024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97172" y="3337560"/>
            <a:ext cx="134965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50" b="1">
                <a:solidFill>
                  <a:srgbClr val="A50021"/>
                </a:solidFill>
                <a:latin typeface="Arial"/>
              </a:rPr>
              <a:t>Executor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65115" y="3621024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11419" y="3337560"/>
            <a:ext cx="134965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50" b="1">
                <a:solidFill>
                  <a:srgbClr val="A50021"/>
                </a:solidFill>
                <a:latin typeface="Arial"/>
              </a:rPr>
              <a:t>EA / PA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79361" y="3621024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925665" y="3337560"/>
            <a:ext cx="1349654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50" b="1">
                <a:solidFill>
                  <a:srgbClr val="A50021"/>
                </a:solidFill>
                <a:latin typeface="Arial"/>
              </a:rPr>
              <a:t>Verifier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43400"/>
            <a:ext cx="7040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300" b="1" i="0">
                <a:solidFill>
                  <a:srgbClr val="A50021"/>
                </a:solidFill>
                <a:latin typeface="Arial"/>
              </a:rPr>
              <a:t>Trọng tâm: trình bày rõ phương pháp, thuật toán, tối ưu và đóng góp kỹ thuật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989320"/>
            <a:ext cx="7040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050" b="0" i="0">
                <a:solidFill>
                  <a:srgbClr val="585858"/>
                </a:solidFill>
                <a:latin typeface="Arial"/>
              </a:rPr>
              <a:t>SV: Đỗ Thành Đức  |  GVHD: PGS.TS. Lê Thanh Hương  |  2026</a:t>
            </a:r>
          </a:p>
        </p:txBody>
      </p:sp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1. Thông điệp chính của nghiên cứu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3886200" cy="38404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Vấn đề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3703320" cy="3611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700"/>
              </a:spcAft>
            </a:pPr>
            <a:r>
              <a:rPr sz="1240" b="1">
                <a:solidFill>
                  <a:srgbClr val="A50021"/>
                </a:solidFill>
                <a:latin typeface="Arial"/>
              </a:rPr>
              <a:t>• </a:t>
            </a:r>
            <a:r>
              <a:rPr sz="1240">
                <a:solidFill>
                  <a:srgbClr val="1E1E1E"/>
                </a:solidFill>
                <a:latin typeface="Arial"/>
              </a:rPr>
              <a:t>VLSP 2025 NumQA yêu cầu mô hình trả lời câu hỏi tài chính bằng cả đáp án số và chương trình tính toán.</a:t>
            </a:r>
          </a:p>
          <a:p>
            <a:pPr>
              <a:spcAft>
                <a:spcPts val="700"/>
              </a:spcAft>
            </a:pPr>
            <a:r>
              <a:rPr sz="1240" b="1">
                <a:solidFill>
                  <a:srgbClr val="A50021"/>
                </a:solidFill>
                <a:latin typeface="Arial"/>
              </a:rPr>
              <a:t>• </a:t>
            </a:r>
            <a:r>
              <a:rPr sz="1240">
                <a:solidFill>
                  <a:srgbClr val="1E1E1E"/>
                </a:solidFill>
                <a:latin typeface="Arial"/>
              </a:rPr>
              <a:t>Trong miền tài chính, đáp án đúng nhưng không kiểm toán được vẫn chưa đủ tin cậy.</a:t>
            </a:r>
          </a:p>
          <a:p>
            <a:pPr>
              <a:spcAft>
                <a:spcPts val="700"/>
              </a:spcAft>
            </a:pPr>
            <a:r>
              <a:rPr sz="1240" b="1">
                <a:solidFill>
                  <a:srgbClr val="A50021"/>
                </a:solidFill>
                <a:latin typeface="Arial"/>
              </a:rPr>
              <a:t>• </a:t>
            </a:r>
            <a:r>
              <a:rPr sz="1240">
                <a:solidFill>
                  <a:srgbClr val="1E1E1E"/>
                </a:solidFill>
                <a:latin typeface="Arial"/>
              </a:rPr>
              <a:t>Do đó, mục tiêu nghiên cứu ưu tiên Program Accuracy (PA), sau đó duy trì Execution Accuracy (EA).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78992"/>
            <a:ext cx="3886200" cy="38404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Luận điểm đề xuất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64208"/>
            <a:ext cx="3703320" cy="3611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700"/>
              </a:spcAft>
            </a:pPr>
            <a:r>
              <a:rPr sz="1240" b="1">
                <a:solidFill>
                  <a:srgbClr val="A50021"/>
                </a:solidFill>
                <a:latin typeface="Arial"/>
              </a:rPr>
              <a:t>• </a:t>
            </a:r>
            <a:r>
              <a:rPr sz="1240">
                <a:solidFill>
                  <a:srgbClr val="1E1E1E"/>
                </a:solidFill>
                <a:latin typeface="Arial"/>
              </a:rPr>
              <a:t>Đặt DSL executor làm trung tâm của dữ liệu, distillation, SFT, RL, inference và đánh giá.</a:t>
            </a:r>
          </a:p>
          <a:p>
            <a:pPr>
              <a:spcAft>
                <a:spcPts val="700"/>
              </a:spcAft>
            </a:pPr>
            <a:r>
              <a:rPr sz="1240" b="1">
                <a:solidFill>
                  <a:srgbClr val="A50021"/>
                </a:solidFill>
                <a:latin typeface="Arial"/>
              </a:rPr>
              <a:t>• </a:t>
            </a:r>
            <a:r>
              <a:rPr sz="1240">
                <a:solidFill>
                  <a:srgbClr val="1E1E1E"/>
                </a:solidFill>
                <a:latin typeface="Arial"/>
              </a:rPr>
              <a:t>Teacher lớn truyền cách lập luận; student nhỏ học sinh chương trình hợp lệ và có thể thực thi.</a:t>
            </a:r>
          </a:p>
          <a:p>
            <a:pPr>
              <a:spcAft>
                <a:spcPts val="700"/>
              </a:spcAft>
            </a:pPr>
            <a:r>
              <a:rPr sz="1240" b="1">
                <a:solidFill>
                  <a:srgbClr val="A50021"/>
                </a:solidFill>
                <a:latin typeface="Arial"/>
              </a:rPr>
              <a:t>• </a:t>
            </a:r>
            <a:r>
              <a:rPr sz="1240">
                <a:solidFill>
                  <a:srgbClr val="1E1E1E"/>
                </a:solidFill>
                <a:latin typeface="Arial"/>
              </a:rPr>
              <a:t>Reward PCPO buộc mô hình tối ưu chương trình thay vì chỉ tối ưu con số cuối cùng.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7406640" cy="420624"/>
          </a:xfrm>
          <a:prstGeom prst="rect">
            <a:avLst/>
          </a:prstGeom>
          <a:solidFill>
            <a:srgbClr val="F7F7F7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220" b="1">
                <a:solidFill>
                  <a:srgbClr val="A50021"/>
                </a:solidFill>
                <a:latin typeface="Arial"/>
              </a:rPr>
              <a:t>Kết quả mong muốn: hệ thống trả lời được, giải thích được và kiểm chứng được.</a:t>
            </a:r>
          </a:p>
        </p:txBody>
      </p:sp>
    </p:spTree>
    <p:extLst>
      <p:ext uri="{BB962C8B-B14F-4D97-AF65-F5344CB8AC3E}">
        <p14:creationId xmlns:p14="http://schemas.microsoft.com/office/powerpoint/2010/main" val="1061262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2. Phát biểu hình thức bài toán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97280"/>
            <a:ext cx="254203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50" b="1">
                <a:solidFill>
                  <a:srgbClr val="A50021"/>
                </a:solidFill>
                <a:latin typeface="Arial"/>
              </a:rPr>
              <a:t>Input</a:t>
            </a:r>
          </a:p>
          <a:p>
            <a:pPr algn="ctr"/>
            <a:r>
              <a:rPr sz="1050" b="0">
                <a:solidFill>
                  <a:srgbClr val="A50021"/>
                </a:solidFill>
                <a:latin typeface="Arial"/>
              </a:rPr>
              <a:t>pre_text + table + post_text + question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79" y="1472184"/>
            <a:ext cx="128017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300984" y="1097280"/>
            <a:ext cx="254203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50" b="1">
                <a:solidFill>
                  <a:srgbClr val="A50021"/>
                </a:solidFill>
                <a:latin typeface="Arial"/>
              </a:rPr>
              <a:t>Output</a:t>
            </a:r>
          </a:p>
          <a:p>
            <a:pPr algn="ctr"/>
            <a:r>
              <a:rPr sz="1050" b="0">
                <a:solidFill>
                  <a:srgbClr val="A50021"/>
                </a:solidFill>
                <a:latin typeface="Arial"/>
              </a:rPr>
              <a:t>reasoning + program + answer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61303" y="1472184"/>
            <a:ext cx="128017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007608" y="1097280"/>
            <a:ext cx="254203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50" b="1">
                <a:solidFill>
                  <a:srgbClr val="A50021"/>
                </a:solidFill>
                <a:latin typeface="Arial"/>
              </a:rPr>
              <a:t>Metric</a:t>
            </a:r>
          </a:p>
          <a:p>
            <a:pPr algn="ctr"/>
            <a:r>
              <a:rPr sz="1050" b="0">
                <a:solidFill>
                  <a:srgbClr val="A50021"/>
                </a:solidFill>
                <a:latin typeface="Arial"/>
              </a:rPr>
              <a:t>PA trước, EA sau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48840"/>
            <a:ext cx="7955279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400" b="1">
                <a:solidFill>
                  <a:srgbClr val="A50021"/>
                </a:solidFill>
                <a:latin typeface="Arial"/>
              </a:rPr>
              <a:t>p* = argmax_p Pθ(p | x)</a:t>
            </a:r>
          </a:p>
          <a:p>
            <a:pPr algn="ctr"/>
            <a:r>
              <a:rPr sz="1400" b="0">
                <a:solidFill>
                  <a:srgbClr val="A50021"/>
                </a:solidFill>
                <a:latin typeface="Arial"/>
              </a:rPr>
              <a:t>subject to: valid(p)=1  ∧  exec(p, table)≈a_gold  ∧  p≡sym p_gold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3337560"/>
          <a:ext cx="77724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</a:rPr>
                        <a:t>Đo điều gì?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</a:rPr>
                        <a:t>Ý nghĩa trong tài chính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E1E1E"/>
                          </a:solidFill>
                          <a:latin typeface="Arial"/>
                        </a:rPr>
                        <a:t>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E1E1E"/>
                          </a:solidFill>
                          <a:latin typeface="Arial"/>
                        </a:rPr>
                        <a:t>Đáp án số sau khi execute đúng tolerance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E1E1E"/>
                          </a:solidFill>
                          <a:latin typeface="Arial"/>
                        </a:rPr>
                        <a:t>Người dùng nhận đúng con số cuối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E1E1E"/>
                          </a:solidFill>
                          <a:latin typeface="Arial"/>
                        </a:rPr>
                        <a:t>PA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E1E1E"/>
                          </a:solidFill>
                          <a:latin typeface="Arial"/>
                        </a:rPr>
                        <a:t>Chương trình tương đương symbolic với gold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1E1E1E"/>
                          </a:solidFill>
                          <a:latin typeface="Arial"/>
                        </a:rPr>
                        <a:t>Logic tính toán có thể kiểm toán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77240" y="4983480"/>
            <a:ext cx="75895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30" b="1">
                <a:solidFill>
                  <a:srgbClr val="A50021"/>
                </a:solidFill>
                <a:latin typeface="Arial"/>
              </a:rPr>
              <a:t>• </a:t>
            </a:r>
            <a:r>
              <a:rPr sz="1230">
                <a:solidFill>
                  <a:srgbClr val="1E1E1E"/>
                </a:solidFill>
                <a:latin typeface="Arial"/>
              </a:rPr>
              <a:t>PA chặt hơn EA: một chương trình sai vẫn có thể tình cờ cho đáp án đúng.</a:t>
            </a:r>
          </a:p>
          <a:p>
            <a:pPr>
              <a:spcAft>
                <a:spcPts val="500"/>
              </a:spcAft>
            </a:pPr>
            <a:r>
              <a:rPr sz="1230" b="1">
                <a:solidFill>
                  <a:srgbClr val="A50021"/>
                </a:solidFill>
                <a:latin typeface="Arial"/>
              </a:rPr>
              <a:t>• </a:t>
            </a:r>
            <a:r>
              <a:rPr sz="1230">
                <a:solidFill>
                  <a:srgbClr val="1E1E1E"/>
                </a:solidFill>
                <a:latin typeface="Arial"/>
              </a:rPr>
              <a:t>Vì vậy toàn bộ pipeline được thiết kế theo hướng program-centric, không answer-centric.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3. Vì sao VLSP NumQA khó?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3931920" cy="1481328"/>
          </a:xfrm>
          <a:prstGeom prst="rect">
            <a:avLst/>
          </a:prstGeom>
          <a:solidFill>
            <a:srgbClr val="F7F7F7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l"/>
            <a:r>
              <a:rPr sz="1120" b="1">
                <a:solidFill>
                  <a:srgbClr val="1E1E1E"/>
                </a:solidFill>
                <a:latin typeface="Arial"/>
              </a:rPr>
              <a:t>Suy luận nhiều bước</a:t>
            </a:r>
          </a:p>
          <a:p>
            <a:pPr algn="l"/>
            <a:r>
              <a:rPr sz="1120" b="0">
                <a:solidFill>
                  <a:srgbClr val="1E1E1E"/>
                </a:solidFill>
                <a:latin typeface="Arial"/>
              </a:rPr>
              <a:t>Mỗi chương trình trung bình 1,56 bước, tối đa 7 bước; lỗi ở bước đầu lan truyền sang toàn bộ đáp án.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3931920" cy="1481328"/>
          </a:xfrm>
          <a:prstGeom prst="rect">
            <a:avLst/>
          </a:prstGeom>
          <a:solidFill>
            <a:srgbClr val="F7F7F7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l"/>
            <a:r>
              <a:rPr sz="1120" b="1">
                <a:solidFill>
                  <a:srgbClr val="1E1E1E"/>
                </a:solidFill>
                <a:latin typeface="Arial"/>
              </a:rPr>
              <a:t>Bảng tài chính phức tạp</a:t>
            </a:r>
          </a:p>
          <a:p>
            <a:pPr algn="l"/>
            <a:r>
              <a:rPr sz="1120" b="0">
                <a:solidFill>
                  <a:srgbClr val="1E1E1E"/>
                </a:solidFill>
                <a:latin typeface="Arial"/>
              </a:rPr>
              <a:t>Header có năm, đơn vị, dấu ngoặc, tên chỉ tiêu dài; câu hỏi không luôn khớp exact với header.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63239"/>
            <a:ext cx="3931920" cy="1481328"/>
          </a:xfrm>
          <a:prstGeom prst="rect">
            <a:avLst/>
          </a:prstGeom>
          <a:solidFill>
            <a:srgbClr val="F7F7F7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l"/>
            <a:r>
              <a:rPr sz="1120" b="1">
                <a:solidFill>
                  <a:srgbClr val="1E1E1E"/>
                </a:solidFill>
                <a:latin typeface="Arial"/>
              </a:rPr>
              <a:t>Dữ liệu tiếng Việt hạn chế</a:t>
            </a:r>
          </a:p>
          <a:p>
            <a:pPr algn="l"/>
            <a:r>
              <a:rPr sz="1120" b="0">
                <a:solidFill>
                  <a:srgbClr val="1E1E1E"/>
                </a:solidFill>
                <a:latin typeface="Arial"/>
              </a:rPr>
              <a:t>ViNumQA train chỉ 2.993 mẫu; cần tận dụng FinQA tiếng Anh mà không dịch sai số liệu.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063239"/>
            <a:ext cx="3931920" cy="1481328"/>
          </a:xfrm>
          <a:prstGeom prst="rect">
            <a:avLst/>
          </a:prstGeom>
          <a:solidFill>
            <a:srgbClr val="F7F7F7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l"/>
            <a:r>
              <a:rPr sz="1120" b="1">
                <a:solidFill>
                  <a:srgbClr val="1E1E1E"/>
                </a:solidFill>
                <a:latin typeface="Arial"/>
              </a:rPr>
              <a:t>Ràng buộc tài nguyên</a:t>
            </a:r>
          </a:p>
          <a:p>
            <a:pPr algn="l"/>
            <a:r>
              <a:rPr sz="1120" b="0">
                <a:solidFill>
                  <a:srgbClr val="1E1E1E"/>
                </a:solidFill>
                <a:latin typeface="Arial"/>
              </a:rPr>
              <a:t>Huấn luyện trên Kaggle/GPU giới hạn; cần LoRA, checkpoint, batching theo độ dài và reward gọn.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77840"/>
            <a:ext cx="77724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230" b="1" i="0">
                <a:solidFill>
                  <a:srgbClr val="A50021"/>
                </a:solidFill>
                <a:latin typeface="Arial"/>
              </a:rPr>
              <a:t>Hàm ý thiết kế: mô hình cần đọc bảng, sinh DSL hợp lệ, học từ dữ liệu ít và chạy được trên GPU giới hạn.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4. Định vị với nghiên cứu liên quan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78992"/>
          <a:ext cx="81381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Nghiên cứu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Kế thừa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Điểm đề tài mở rộng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FinQA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DSL 10 phép, EA/PA, program-based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Chuyển sang tiếng Việt, thêm KD + GRPO + verifier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Distilling Step-by-Step 2023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Rationale distillation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Guided prompt nhúng gold program để giảm hallucination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DeepSeekMath/GRPO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Group relative policy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Thay reward đáp án bằng PCPO hướng chương trình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3886200"/>
            <a:ext cx="777240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10" b="1">
                <a:solidFill>
                  <a:srgbClr val="A50021"/>
                </a:solidFill>
                <a:latin typeface="Arial"/>
              </a:rPr>
              <a:t>• </a:t>
            </a:r>
            <a:r>
              <a:rPr sz="1210">
                <a:solidFill>
                  <a:srgbClr val="1E1E1E"/>
                </a:solidFill>
                <a:latin typeface="Arial"/>
              </a:rPr>
              <a:t>Đề tài không phát minh lại DSL hay GRPO; đóng góp nằm ở thiết kế tích hợp quanh executor DSL.</a:t>
            </a:r>
          </a:p>
          <a:p>
            <a:pPr>
              <a:spcAft>
                <a:spcPts val="500"/>
              </a:spcAft>
            </a:pPr>
            <a:r>
              <a:rPr sz="1210" b="1">
                <a:solidFill>
                  <a:srgbClr val="A50021"/>
                </a:solidFill>
                <a:latin typeface="Arial"/>
              </a:rPr>
              <a:t>• </a:t>
            </a:r>
            <a:r>
              <a:rPr sz="1210">
                <a:solidFill>
                  <a:srgbClr val="1E1E1E"/>
                </a:solidFill>
                <a:latin typeface="Arial"/>
              </a:rPr>
              <a:t>Tất cả tín hiệu học đều được kiểm chứng bằng cùng một lớp thực thi, giảm objective drift giữa các phase.</a:t>
            </a:r>
          </a:p>
          <a:p>
            <a:pPr>
              <a:spcAft>
                <a:spcPts val="500"/>
              </a:spcAft>
            </a:pPr>
            <a:r>
              <a:rPr sz="1210" b="1">
                <a:solidFill>
                  <a:srgbClr val="A50021"/>
                </a:solidFill>
                <a:latin typeface="Arial"/>
              </a:rPr>
              <a:t>• </a:t>
            </a:r>
            <a:r>
              <a:rPr sz="1210">
                <a:solidFill>
                  <a:srgbClr val="1E1E1E"/>
                </a:solidFill>
                <a:latin typeface="Arial"/>
              </a:rPr>
              <a:t>Cách trình bày trong slide tập trung vào mối quan hệ giữa lý thuyết nền và quyết định triển khai cụ thể.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5. Tổng quan pipeline đề xuất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60" b="1">
                <a:solidFill>
                  <a:srgbClr val="A50021"/>
                </a:solidFill>
                <a:latin typeface="Arial"/>
              </a:rPr>
              <a:t>Data Prep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7166" y="1499616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163470" y="1170432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60" b="1">
                <a:solidFill>
                  <a:srgbClr val="A50021"/>
                </a:solidFill>
                <a:latin typeface="Arial"/>
              </a:rPr>
              <a:t>Teacher Distill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77716" y="1499616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824020" y="1170432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60" b="1">
                <a:solidFill>
                  <a:srgbClr val="A50021"/>
                </a:solidFill>
                <a:latin typeface="Arial"/>
              </a:rPr>
              <a:t>LoRA-SFT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38267" y="1499616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4571" y="1170432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60" b="1">
                <a:solidFill>
                  <a:srgbClr val="A50021"/>
                </a:solidFill>
                <a:latin typeface="Arial"/>
              </a:rPr>
              <a:t>GRPO/PCPO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8817" y="1499616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145121" y="1170432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60" b="1">
                <a:solidFill>
                  <a:srgbClr val="A50021"/>
                </a:solidFill>
                <a:latin typeface="Arial"/>
              </a:rPr>
              <a:t>Inference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148840"/>
          <a:ext cx="81381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/>
                <a:gridCol w="2034540"/>
                <a:gridCol w="2034540"/>
                <a:gridCol w="2034540"/>
              </a:tblGrid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Input chính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Mục tiêu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ViNumQA + FinQA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SFT/GRPO/teacher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Tạo tín hiệu học hướng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Gold program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Reasoning trace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Teacher giải thích logic đúng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Trace +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LoRA adapter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Học format và DSL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Prompt + reward model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GRPO adapter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Tối ưu PA bằng executor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Private/test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Chọn program đáng tin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868680" y="5559552"/>
            <a:ext cx="7406640" cy="384048"/>
          </a:xfrm>
          <a:prstGeom prst="rect">
            <a:avLst/>
          </a:prstGeom>
          <a:solidFill>
            <a:srgbClr val="F7F7F7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Executor DSL là lớp dùng chung: validate → execute → reward → evaluate.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6. Chiến lược dữ liệu hướng chương trình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4709160" cy="43891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Chuẩn hóa bảng 2D sang Markdown để LLM giữ được quan hệ hàng-cột và phân biệt header với dữ liệu.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Gộp ViNumQA tiếng Việt với FinQA tiếng Anh nguyên bản; tránh dịch sai số và tận dụng năng lực đa ngữ của Qwen.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Khai thác program_re trong FinQA: 2.534 chương trình thay thế giúp mô hình học nhiều lời giải tương đương.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Tách ba luồng dữ liệu: SFT để học format, GRPO để chấm reward, teacher_input để sinh trace.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Quality gate bằng executor trước khi dùng dữ liệu cho reward, giảm mẫu nhiễu và lỗi chương trình.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32120" y="1143000"/>
          <a:ext cx="2971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99060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rial"/>
                        </a:rPr>
                        <a:t>Nguồn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rial"/>
                        </a:rPr>
                        <a:t>Số mẫu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E1E1E"/>
                          </a:solidFill>
                          <a:latin typeface="Arial"/>
                        </a:rPr>
                        <a:t>ViNumQA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2.993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Tập chính tiếng Việt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E1E1E"/>
                          </a:solidFill>
                          <a:latin typeface="Arial"/>
                        </a:rPr>
                        <a:t>FinQA train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6.251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Augmentation cross-lingual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E1E1E"/>
                          </a:solidFill>
                          <a:latin typeface="Arial"/>
                        </a:rPr>
                        <a:t>program_re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2.534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Tăng đa dạng chương trình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E1E1E"/>
                          </a:solidFill>
                          <a:latin typeface="Arial"/>
                        </a:rPr>
                        <a:t>Private test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1.625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Đánh giá cuối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532120" y="3520440"/>
            <a:ext cx="2971800" cy="1389888"/>
          </a:xfrm>
          <a:prstGeom prst="rect">
            <a:avLst/>
          </a:prstGeom>
          <a:solidFill>
            <a:srgbClr val="F7F7F7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l"/>
            <a:r>
              <a:rPr sz="1120" b="1">
                <a:solidFill>
                  <a:srgbClr val="1E1E1E"/>
                </a:solidFill>
                <a:latin typeface="Arial"/>
              </a:rPr>
              <a:t>Ý nghĩa</a:t>
            </a:r>
          </a:p>
          <a:p>
            <a:pPr algn="l"/>
            <a:r>
              <a:rPr sz="1120" b="0">
                <a:solidFill>
                  <a:srgbClr val="1E1E1E"/>
                </a:solidFill>
                <a:latin typeface="Arial"/>
              </a:rPr>
              <a:t>Dữ liệu không chỉ tăng số mẫu; quan trọng hơn là tăng dạng chương trình hợp lệ cho PA.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7. Financial DSL và executor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147767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40" b="1">
                <a:solidFill>
                  <a:srgbClr val="A50021"/>
                </a:solidFill>
                <a:latin typeface="Arial"/>
              </a:rPr>
              <a:t>Câu hỏi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44598" y="1335024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190902" y="1005840"/>
            <a:ext cx="147767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40" b="1">
                <a:solidFill>
                  <a:srgbClr val="A50021"/>
                </a:solidFill>
                <a:latin typeface="Arial"/>
              </a:rPr>
              <a:t>DSL program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86860" y="1335024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833164" y="1005840"/>
            <a:ext cx="147767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40" b="1">
                <a:solidFill>
                  <a:srgbClr val="A50021"/>
                </a:solidFill>
                <a:latin typeface="Arial"/>
              </a:rPr>
              <a:t>Executor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29123" y="1335024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75427" y="1005840"/>
            <a:ext cx="147767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40" b="1">
                <a:solidFill>
                  <a:srgbClr val="A50021"/>
                </a:solidFill>
                <a:latin typeface="Arial"/>
              </a:rPr>
              <a:t>Answer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71385" y="1335024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117689" y="1005840"/>
            <a:ext cx="147767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40" b="1">
                <a:solidFill>
                  <a:srgbClr val="A50021"/>
                </a:solidFill>
                <a:latin typeface="Arial"/>
              </a:rPr>
              <a:t>PA symbolic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029968"/>
            <a:ext cx="768096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240" b="1">
                <a:solidFill>
                  <a:srgbClr val="A50021"/>
                </a:solidFill>
                <a:latin typeface="Arial"/>
              </a:rPr>
              <a:t>divide(914, 391), multiply(#0, const_100)  →  chương trình có bước, tham chiếu #0 và hằng const_100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" y="3063240"/>
          <a:ext cx="77724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Nhóm phép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Hàm trong DSL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Số học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add, subtract, multiply, divide, exp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Tính tăng trưởng, tỷ lệ, chênh lệch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So sánh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greater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Chọn giá trị lớn hơn/điều kiện so sánh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Bảng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table_sum, table_average, table_max, table_min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Tổng hợp theo hàng/cột tài chính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77240" y="5074920"/>
            <a:ext cx="7498079" cy="7315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DSL giới hạn output, giảm rủi ro sinh code tùy ý và giúp mọi chương trình đều có thể kiểm tra.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PA symbolic cho phép các chương trình khác chuỗi ký tự nhưng tương đương toán học vẫn được công nhận.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8. Header matching và truy xuất chứng cứ bảng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51560"/>
          <a:ext cx="81381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Arial"/>
                        </a:rPr>
                        <a:t>Chiến lược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Arial"/>
                        </a:rPr>
                        <a:t>Cách xử lý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Arial"/>
                        </a:rPr>
                        <a:t>Vì sao cần?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69" b="1">
                          <a:solidFill>
                            <a:srgbClr val="1E1E1E"/>
                          </a:solidFill>
                          <a:latin typeface="Arial"/>
                        </a:rPr>
                        <a:t>Exact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So khớp nguyên văn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Nhanh, chính xác khi header sạch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69" b="1">
                          <a:solidFill>
                            <a:srgbClr val="1E1E1E"/>
                          </a:solidFill>
                          <a:latin typeface="Arial"/>
                        </a:rPr>
                        <a:t>Lowercase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Bỏ khác biệt hoa/thường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Header sinh ra từ model có thể đổi chữ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69" b="1">
                          <a:solidFill>
                            <a:srgbClr val="1E1E1E"/>
                          </a:solidFill>
                          <a:latin typeface="Arial"/>
                        </a:rPr>
                        <a:t>Strip parentheses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Bỏ đơn vị trong ngoặc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Ví dụ: Doanh thu (triệu đồng)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969" b="1">
                          <a:solidFill>
                            <a:srgbClr val="1E1E1E"/>
                          </a:solidFill>
                          <a:latin typeface="Arial"/>
                        </a:rPr>
                        <a:t>Substring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Cho phép nhãn ngắn/dài hơn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Xử lý header rất dài trong báo cáo tài chính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3840480"/>
            <a:ext cx="777240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10" b="1">
                <a:solidFill>
                  <a:srgbClr val="A50021"/>
                </a:solidFill>
                <a:latin typeface="Arial"/>
              </a:rPr>
              <a:t>• </a:t>
            </a:r>
            <a:r>
              <a:rPr sz="1210">
                <a:solidFill>
                  <a:srgbClr val="1E1E1E"/>
                </a:solidFill>
                <a:latin typeface="Arial"/>
              </a:rPr>
              <a:t>Header matching là phần nhỏ nhưng ảnh hưởng lớn tới các hàm table_*; sai header làm executor lấy sai hàng/cột.</a:t>
            </a:r>
          </a:p>
          <a:p>
            <a:pPr>
              <a:spcAft>
                <a:spcPts val="500"/>
              </a:spcAft>
            </a:pPr>
            <a:r>
              <a:rPr sz="1210" b="1">
                <a:solidFill>
                  <a:srgbClr val="A50021"/>
                </a:solidFill>
                <a:latin typeface="Arial"/>
              </a:rPr>
              <a:t>• </a:t>
            </a:r>
            <a:r>
              <a:rPr sz="1210">
                <a:solidFill>
                  <a:srgbClr val="1E1E1E"/>
                </a:solidFill>
                <a:latin typeface="Arial"/>
              </a:rPr>
              <a:t>Cách tiếp cận hiện tại ưu tiên độ phủ, sau đó dùng executor/reward để phát hiện chương trình sai kết quả.</a:t>
            </a:r>
          </a:p>
          <a:p>
            <a:pPr>
              <a:spcAft>
                <a:spcPts val="500"/>
              </a:spcAft>
            </a:pPr>
            <a:r>
              <a:rPr sz="1210" b="1">
                <a:solidFill>
                  <a:srgbClr val="A50021"/>
                </a:solidFill>
                <a:latin typeface="Arial"/>
              </a:rPr>
              <a:t>• </a:t>
            </a:r>
            <a:r>
              <a:rPr sz="1210">
                <a:solidFill>
                  <a:srgbClr val="1E1E1E"/>
                </a:solidFill>
                <a:latin typeface="Arial"/>
              </a:rPr>
              <a:t>Hướng mở rộng: thêm fuzzy matching có kiểm soát và evidence map từ số trong program về cell/span cụ thể.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9. Guided Reasoning Distillation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12192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960" b="1">
                <a:solidFill>
                  <a:srgbClr val="A50021"/>
                </a:solidFill>
                <a:latin typeface="Arial"/>
              </a:rPr>
              <a:t>Gold program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40408" y="1371600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886712" y="1051560"/>
            <a:ext cx="12192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960" b="1">
                <a:solidFill>
                  <a:srgbClr val="A50021"/>
                </a:solidFill>
                <a:latin typeface="Arial"/>
              </a:rPr>
              <a:t>Guided prompt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24200" y="1371600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270504" y="1051560"/>
            <a:ext cx="12192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960" b="1">
                <a:solidFill>
                  <a:srgbClr val="A50021"/>
                </a:solidFill>
                <a:latin typeface="Arial"/>
              </a:rPr>
              <a:t>Teacher 27B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07992" y="1371600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654296" y="1051560"/>
            <a:ext cx="12192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960" b="1">
                <a:solidFill>
                  <a:srgbClr val="A50021"/>
                </a:solidFill>
                <a:latin typeface="Arial"/>
              </a:rPr>
              <a:t>Reasoning trace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1783" y="1371600"/>
            <a:ext cx="128017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38088" y="1051560"/>
            <a:ext cx="12192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960" b="1">
                <a:solidFill>
                  <a:srgbClr val="A50021"/>
                </a:solidFill>
                <a:latin typeface="Arial"/>
              </a:rPr>
              <a:t>Quality tier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75575" y="1371600"/>
            <a:ext cx="128017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421880" y="1051560"/>
            <a:ext cx="12192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960" b="1">
                <a:solidFill>
                  <a:srgbClr val="A50021"/>
                </a:solidFill>
                <a:latin typeface="Arial"/>
              </a:rPr>
              <a:t>SFT data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4360" y="2057400"/>
          <a:ext cx="79552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/>
                <a:gridCol w="39776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Vấn đề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Cách xử lý trong đề tài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Teacher tự sinh có thể hallucinate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Nhúng gold program để teacher chỉ giải thích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Trace dài nhưng thiếu chứng cứ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Yêu cầu nêu số liệu, phép toán và kết quả từng bước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Output teacher có thể sai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Tier 4 mức: exact_match, answer_match, program_valid, invalid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77240" y="4343400"/>
            <a:ext cx="7498079" cy="8686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10" b="1">
                <a:solidFill>
                  <a:srgbClr val="A50021"/>
                </a:solidFill>
                <a:latin typeface="Arial"/>
              </a:rPr>
              <a:t>• </a:t>
            </a:r>
            <a:r>
              <a:rPr sz="1210">
                <a:solidFill>
                  <a:srgbClr val="1E1E1E"/>
                </a:solidFill>
                <a:latin typeface="Arial"/>
              </a:rPr>
              <a:t>Mục tiêu của distillation không phải tạo thêm đáp án, mà truyền cách chọn chứng cứ và ánh xạ sang phép toán DSL.</a:t>
            </a:r>
          </a:p>
          <a:p>
            <a:pPr>
              <a:spcAft>
                <a:spcPts val="500"/>
              </a:spcAft>
            </a:pPr>
            <a:r>
              <a:rPr sz="1210" b="1">
                <a:solidFill>
                  <a:srgbClr val="A50021"/>
                </a:solidFill>
                <a:latin typeface="Arial"/>
              </a:rPr>
              <a:t>• </a:t>
            </a:r>
            <a:r>
              <a:rPr sz="1210">
                <a:solidFill>
                  <a:srgbClr val="1E1E1E"/>
                </a:solidFill>
                <a:latin typeface="Arial"/>
              </a:rPr>
              <a:t>Student 4B nhờ đó học được reasoning pattern của teacher 27B trong giới hạn tài nguyên inference.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5532120"/>
            <a:ext cx="7223760" cy="384048"/>
          </a:xfrm>
          <a:prstGeom prst="rect">
            <a:avLst/>
          </a:prstGeom>
          <a:solidFill>
            <a:srgbClr val="F7F7F7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Điểm khác biệt: teacher chuyển từ vai trò generator sang explainer.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10. LoRA-SFT với label masking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51560"/>
            <a:ext cx="182880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400" b="1">
                <a:solidFill>
                  <a:srgbClr val="1E1E1E"/>
                </a:solidFill>
                <a:latin typeface="Arial"/>
              </a:rPr>
              <a:t>W</a:t>
            </a:r>
          </a:p>
          <a:p>
            <a:pPr algn="ctr"/>
            <a:r>
              <a:rPr sz="1400" b="0">
                <a:solidFill>
                  <a:srgbClr val="1E1E1E"/>
                </a:solidFill>
                <a:latin typeface="Arial"/>
              </a:rPr>
              <a:t>đóng băng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261872"/>
            <a:ext cx="228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2000" b="1" i="0">
                <a:solidFill>
                  <a:srgbClr val="A50021"/>
                </a:solidFill>
                <a:latin typeface="Arial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051560"/>
            <a:ext cx="1417320" cy="731520"/>
          </a:xfrm>
          <a:prstGeom prst="rect">
            <a:avLst/>
          </a:prstGeom>
          <a:solidFill>
            <a:srgbClr val="F7F7F7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800" b="1">
                <a:solidFill>
                  <a:srgbClr val="A50021"/>
                </a:solidFill>
                <a:latin typeface="Arial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261872"/>
            <a:ext cx="228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00" b="1" i="0">
                <a:solidFill>
                  <a:srgbClr val="A50021"/>
                </a:solidFill>
                <a:latin typeface="Arial"/>
              </a:rPr>
              <a:t>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051560"/>
            <a:ext cx="1417320" cy="731520"/>
          </a:xfrm>
          <a:prstGeom prst="rect">
            <a:avLst/>
          </a:prstGeom>
          <a:solidFill>
            <a:srgbClr val="F7F7F7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800" b="1">
                <a:solidFill>
                  <a:srgbClr val="A50021"/>
                </a:solidFill>
                <a:latin typeface="Arial"/>
              </a:rPr>
              <a:t>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20840" y="1417320"/>
            <a:ext cx="640080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479792" y="1051560"/>
            <a:ext cx="96012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800" b="1">
                <a:solidFill>
                  <a:srgbClr val="A50021"/>
                </a:solidFill>
                <a:latin typeface="Arial"/>
              </a:rPr>
              <a:t>W'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65960"/>
            <a:ext cx="7680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400" b="1" i="0">
                <a:solidFill>
                  <a:srgbClr val="A50021"/>
                </a:solidFill>
                <a:latin typeface="Arial"/>
              </a:rPr>
              <a:t>LoRA: W' = W + ΔW = W + BA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" y="2606040"/>
          <a:ext cx="795527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59"/>
                <a:gridCol w="2651759"/>
                <a:gridCol w="2651761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rial"/>
                        </a:rPr>
                        <a:t>Thành phần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rial"/>
                        </a:rPr>
                        <a:t>Ý nghĩa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E1E1E"/>
                          </a:solidFill>
                          <a:latin typeface="Arial"/>
                        </a:rPr>
                        <a:t>rank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Đủ năng lực học pattern DSL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E1E1E"/>
                          </a:solidFill>
                          <a:latin typeface="Arial"/>
                        </a:rPr>
                        <a:t>alpha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Quy ước α = 2r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E1E1E"/>
                          </a:solidFill>
                          <a:latin typeface="Arial"/>
                        </a:rPr>
                        <a:t>learning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5e-5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Phù hợp adapter LoRA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E1E1E"/>
                          </a:solidFill>
                          <a:latin typeface="Arial"/>
                        </a:rPr>
                        <a:t>label masking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prompt = -100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Loss chỉ tính trên assistant output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E1E1E"/>
                          </a:solidFill>
                          <a:latin typeface="Arial"/>
                        </a:rPr>
                        <a:t>safety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mở 32 token cuối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1E1E1E"/>
                          </a:solidFill>
                          <a:latin typeface="Arial"/>
                        </a:rPr>
                        <a:t>Tránh NaN khi prompt quá dài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11. Vì sao chọn GRPO + PCPO?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51560"/>
          <a:ext cx="813816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/>
                <a:gridCol w="2034540"/>
                <a:gridCol w="2034540"/>
                <a:gridCol w="203454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Arial"/>
                        </a:rPr>
                        <a:t>Phương pháp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Arial"/>
                        </a:rPr>
                        <a:t>Cần gì?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Arial"/>
                        </a:rPr>
                        <a:t>Hạn chế với bài toán PA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Arial"/>
                        </a:rPr>
                        <a:t>Kết luận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E1E1E"/>
                          </a:solidFill>
                          <a:latin typeface="Arial"/>
                        </a:rPr>
                        <a:t>PPO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E1E1E"/>
                          </a:solidFill>
                          <a:latin typeface="Arial"/>
                        </a:rPr>
                        <a:t>Value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E1E1E"/>
                          </a:solidFill>
                          <a:latin typeface="Arial"/>
                        </a:rPr>
                        <a:t>Tốn bộ nhớ và khó ổn định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E1E1E"/>
                          </a:solidFill>
                          <a:latin typeface="Arial"/>
                        </a:rPr>
                        <a:t>Không ưu tiên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E1E1E"/>
                          </a:solidFill>
                          <a:latin typeface="Arial"/>
                        </a:rPr>
                        <a:t>DPO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E1E1E"/>
                          </a:solidFill>
                          <a:latin typeface="Arial"/>
                        </a:rPr>
                        <a:t>Preference pairs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E1E1E"/>
                          </a:solidFill>
                          <a:latin typeface="Arial"/>
                        </a:rPr>
                        <a:t>Không có cặp chosen/rejected tự nhiên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E1E1E"/>
                          </a:solidFill>
                          <a:latin typeface="Arial"/>
                        </a:rPr>
                        <a:t>Không phù hợp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E1E1E"/>
                          </a:solidFill>
                          <a:latin typeface="Arial"/>
                        </a:rPr>
                        <a:t>RLVR thuần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E1E1E"/>
                          </a:solidFill>
                          <a:latin typeface="Arial"/>
                        </a:rPr>
                        <a:t>Verifier đáp 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E1E1E"/>
                          </a:solidFill>
                          <a:latin typeface="Arial"/>
                        </a:rPr>
                        <a:t>Dễ thưởng lucky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E1E1E"/>
                          </a:solidFill>
                          <a:latin typeface="Arial"/>
                        </a:rPr>
                        <a:t>Chưa đủ 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E1E1E"/>
                          </a:solidFill>
                          <a:latin typeface="Arial"/>
                        </a:rPr>
                        <a:t>GRPO + PCPO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E1E1E"/>
                          </a:solidFill>
                          <a:latin typeface="Arial"/>
                        </a:rPr>
                        <a:t>Executor reward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E1E1E"/>
                          </a:solidFill>
                          <a:latin typeface="Arial"/>
                        </a:rPr>
                        <a:t>Phụ thuộc reward nhưng tiết kiệm VRAM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E1E1E"/>
                          </a:solidFill>
                          <a:latin typeface="Arial"/>
                        </a:rPr>
                        <a:t>Được chọn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4069080"/>
            <a:ext cx="777240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GRPO sinh nhiều completion cho cùng prompt và dùng reward trung bình nhóm làm baseline, không cần critic/value model.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PCPO thay reward chỉ-đáp-án bằng reward có gate chương trình hợp lệ, nên khớp mục tiêu PA hơn RLVR thuần.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KL nhỏ (1e-3) giúp policy không trôi quá xa khỏi SFT checkpoint nhưng vẫn học được từ reward.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12. PCPO reward: tối ưu đúng mục tiêu PA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600" b="1">
                <a:solidFill>
                  <a:srgbClr val="A50021"/>
                </a:solidFill>
                <a:latin typeface="Arial"/>
              </a:rPr>
              <a:t>R(p, x) = R_valid · (0,7 + 0,2 · R_exec + 0,1 · R_bonus)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2057400"/>
          <a:ext cx="7498079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Thành phần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Vai trò trong reward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Arial"/>
                        </a:rPr>
                        <a:t>R_valid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  <a:latin typeface="Arial"/>
                        </a:rPr>
                        <a:t>0 hoặc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  <a:latin typeface="Arial"/>
                        </a:rPr>
                        <a:t>Gate cứng: sai DSL thì reward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Arial"/>
                        </a:rPr>
                        <a:t>R_exec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  <a:latin typeface="Arial"/>
                        </a:rPr>
                        <a:t>0 hoặc 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  <a:latin typeface="Arial"/>
                        </a:rPr>
                        <a:t>Thưởng khi chương trình thực thi ra đáp án đúng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Arial"/>
                        </a:rPr>
                        <a:t>R_bonus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  <a:latin typeface="Arial"/>
                        </a:rPr>
                        <a:t>0,1 / 0,5 / 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  <a:latin typeface="Arial"/>
                        </a:rPr>
                        <a:t>Khuyến khích chương trình ngắn và gần 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4069080"/>
            <a:ext cx="758952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10" b="1">
                <a:solidFill>
                  <a:srgbClr val="A50021"/>
                </a:solidFill>
                <a:latin typeface="Arial"/>
              </a:rPr>
              <a:t>• </a:t>
            </a:r>
            <a:r>
              <a:rPr sz="1210">
                <a:solidFill>
                  <a:srgbClr val="1E1E1E"/>
                </a:solidFill>
                <a:latin typeface="Arial"/>
              </a:rPr>
              <a:t>Nếu chỉ dùng R_exec, mô hình có thể tối ưu con số đúng nhưng sinh chương trình không kiểm toán được.</a:t>
            </a:r>
          </a:p>
          <a:p>
            <a:pPr>
              <a:spcAft>
                <a:spcPts val="500"/>
              </a:spcAft>
            </a:pPr>
            <a:r>
              <a:rPr sz="1210" b="1">
                <a:solidFill>
                  <a:srgbClr val="A50021"/>
                </a:solidFill>
                <a:latin typeface="Arial"/>
              </a:rPr>
              <a:t>• </a:t>
            </a:r>
            <a:r>
              <a:rPr sz="1210">
                <a:solidFill>
                  <a:srgbClr val="1E1E1E"/>
                </a:solidFill>
                <a:latin typeface="Arial"/>
              </a:rPr>
              <a:t>R_valid triệt tiêu lucky answer: chương trình sai format không bao giờ nhận reward dương.</a:t>
            </a:r>
          </a:p>
          <a:p>
            <a:pPr>
              <a:spcAft>
                <a:spcPts val="500"/>
              </a:spcAft>
            </a:pPr>
            <a:r>
              <a:rPr sz="1210" b="1">
                <a:solidFill>
                  <a:srgbClr val="A50021"/>
                </a:solidFill>
                <a:latin typeface="Arial"/>
              </a:rPr>
              <a:t>• </a:t>
            </a:r>
            <a:r>
              <a:rPr sz="1210">
                <a:solidFill>
                  <a:srgbClr val="1E1E1E"/>
                </a:solidFill>
                <a:latin typeface="Arial"/>
              </a:rPr>
              <a:t>Hệ số 0,7/0,2/0,1 phản ánh ưu tiên: hợp lệ trước, đúng đáp án sau, súc tích cuối cùng.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13. Vòng lặp huấn luyện GRPO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980" b="1">
                <a:solidFill>
                  <a:srgbClr val="A50021"/>
                </a:solidFill>
                <a:latin typeface="Arial"/>
              </a:rPr>
              <a:t>Prompt 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7166" y="1380743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163470" y="1051560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980" b="1">
                <a:solidFill>
                  <a:srgbClr val="A50021"/>
                </a:solidFill>
                <a:latin typeface="Arial"/>
              </a:rPr>
              <a:t>G=5 completions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77716" y="1380743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824020" y="1051560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980" b="1">
                <a:solidFill>
                  <a:srgbClr val="A50021"/>
                </a:solidFill>
                <a:latin typeface="Arial"/>
              </a:rPr>
              <a:t>PCPO reward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38267" y="1380743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4571" y="1051560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980" b="1">
                <a:solidFill>
                  <a:srgbClr val="A50021"/>
                </a:solidFill>
                <a:latin typeface="Arial"/>
              </a:rPr>
              <a:t>Group advantage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8817" y="1380743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145121" y="1051560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980" b="1">
                <a:solidFill>
                  <a:srgbClr val="A50021"/>
                </a:solidFill>
                <a:latin typeface="Arial"/>
              </a:rPr>
              <a:t>Policy update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121408"/>
            <a:ext cx="75895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500" b="1">
                <a:solidFill>
                  <a:srgbClr val="A50021"/>
                </a:solidFill>
                <a:latin typeface="Arial"/>
              </a:rPr>
              <a:t>A_i = (R_i - mean(R)) / (std(R) + 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63240"/>
            <a:ext cx="7589520" cy="19202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Mỗi prompt tự tạo nhóm so sánh riêng, giảm nhiễu giữa câu hỏi dễ và câu hỏi khó.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Completion có reward cao hơn trung bình nhóm được tăng xác suất; completion kém bị giảm xác suất.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Reference SFT checkpoint và KL penalty giữ văn phong/format không bị trôi trong giai đoạn RL.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LoRA chỉ cập nhật adapter, giúp GRPO khả thi trong giới hạn GPU của Kaggle.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14. Verifier-guided multi-path inference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51560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00" b="1">
                <a:solidFill>
                  <a:srgbClr val="A50021"/>
                </a:solidFill>
                <a:latin typeface="Arial"/>
              </a:rPr>
              <a:t>Sample N=15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7166" y="1380743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163470" y="1051560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00" b="1">
                <a:solidFill>
                  <a:srgbClr val="A50021"/>
                </a:solidFill>
                <a:latin typeface="Arial"/>
              </a:rPr>
              <a:t>Extract program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77716" y="1380743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824020" y="1051560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00" b="1">
                <a:solidFill>
                  <a:srgbClr val="A50021"/>
                </a:solidFill>
                <a:latin typeface="Arial"/>
              </a:rPr>
              <a:t>Validate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38267" y="1380743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4571" y="1051560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00" b="1">
                <a:solidFill>
                  <a:srgbClr val="A50021"/>
                </a:solidFill>
                <a:latin typeface="Arial"/>
              </a:rPr>
              <a:t>Execute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8817" y="1380743"/>
            <a:ext cx="128016" cy="0"/>
          </a:xfrm>
          <a:prstGeom prst="line">
            <a:avLst/>
          </a:prstGeom>
          <a:ln w="1651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145121" y="1051560"/>
            <a:ext cx="149595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000" b="1">
                <a:solidFill>
                  <a:srgbClr val="A50021"/>
                </a:solidFill>
                <a:latin typeface="Arial"/>
              </a:rPr>
              <a:t>Score / vote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" y="2057400"/>
          <a:ext cx="78638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Bước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Sinh nhiều candidate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Tạo nhiều đường suy luận, tránh phụ thuộc greedy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Lọc bằng executor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Bỏ chương trình không parse hoặc không thực thi được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Chấm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valid + exec_conf + brevity +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E1E1E"/>
                          </a:solidFill>
                          <a:latin typeface="Arial"/>
                        </a:rPr>
                        <a:t>Chọn lời giải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E1E1E"/>
                          </a:solidFill>
                          <a:latin typeface="Arial"/>
                        </a:rPr>
                        <a:t>Ưu tiên chương trình đáng tin thay vì text nghe có vẻ hợp lý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77240" y="4709160"/>
            <a:ext cx="758952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Khác self-consistency thuần: hệ thống không vote trên câu trả lời dạng text, mà vote sau khi chương trình đã được execute.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N=15 là điểm cân bằng: tăng ổn định nhưng vẫn đủ nhanh cho validation/private test trong session 12 giờ.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15. Cài đặt thực nghiệm và tối ưu hệ thống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51560"/>
          <a:ext cx="813816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Hạng mục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Thiết lập chính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Lý do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Arial"/>
                        </a:rPr>
                        <a:t>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1E1E"/>
                          </a:solidFill>
                          <a:latin typeface="Arial"/>
                        </a:rPr>
                        <a:t>Qwen3.5-27B 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1E1E"/>
                          </a:solidFill>
                          <a:latin typeface="Arial"/>
                        </a:rPr>
                        <a:t>Sinh reasoning trace chất lượng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Arial"/>
                        </a:rPr>
                        <a:t>Student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1E1E"/>
                          </a:solidFill>
                          <a:latin typeface="Arial"/>
                        </a:rPr>
                        <a:t>Qwen3.5-4B + LoRA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1E1E"/>
                          </a:solidFill>
                          <a:latin typeface="Arial"/>
                        </a:rPr>
                        <a:t>Chạy được trong constrained setting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Arial"/>
                        </a:rPr>
                        <a:t>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1E1E"/>
                          </a:solidFill>
                          <a:latin typeface="Arial"/>
                        </a:rPr>
                        <a:t>r=128, alpha=256, lr=5e-5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1E1E"/>
                          </a:solidFill>
                          <a:latin typeface="Arial"/>
                        </a:rPr>
                        <a:t>Học DSL/format với ít tham số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Arial"/>
                        </a:rPr>
                        <a:t>GRPO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1E1E"/>
                          </a:solidFill>
                          <a:latin typeface="Arial"/>
                        </a:rPr>
                        <a:t>G=5, lr=1e-6, KL=1e-3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1E1E"/>
                          </a:solidFill>
                          <a:latin typeface="Arial"/>
                        </a:rPr>
                        <a:t>Tối ưu reward nhẹ, tránh drift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Arial"/>
                        </a:rPr>
                        <a:t>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1E1E"/>
                          </a:solidFill>
                          <a:latin typeface="Arial"/>
                        </a:rPr>
                        <a:t>N=15, T=0,7, top_p=0,95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1E1E"/>
                          </a:solidFill>
                          <a:latin typeface="Arial"/>
                        </a:rPr>
                        <a:t>Đủ đa dạng candidate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4251960"/>
            <a:ext cx="777240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Tối ưu hệ thống: bf16, Flash Attention 2 trên RTX/A100, gradient checkpointing và length-sorted batching.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Checkpoint/resume theo phase giúp pipeline sống sót trong môi trường Kaggle giới hạn thời gian.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Thiết kế tách phase làm cho ablation rõ ràng: có thể đo riêng data, KD, SFT, GRPO và inference.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16. Kết quả mô phỏng bảo thủ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51560"/>
          <a:ext cx="813816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/>
                <a:gridCol w="2034540"/>
                <a:gridCol w="2034540"/>
                <a:gridCol w="2034540"/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Thiết lập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EA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PA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Ý nghĩa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Zero-shot Qwen3.5-4B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Chưa học DSL/format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SFT only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Học format và chương trình cơ bản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SFT + GRPO không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67,1%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Reward còn yếu với 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SFT + GRPO + PCPO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71,8%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R_valid gate cải thiện PA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Full + verifier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Vùng kỳ vọng 0,70-0,75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4251960"/>
            <a:ext cx="777240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Các số liệu là mô phỏng bảo thủ trên ViNumQA valid, dùng để phân tích đóng góp chứ chưa phải leaderboard chính thức.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Kết quả cuối giữ trong vùng 0,70-0,75 như kỳ vọng; không giả định mức 0,8-0,9 cho pipeline hiện tại.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50021"/>
                </a:solidFill>
                <a:latin typeface="Arial"/>
              </a:rPr>
              <a:t>• </a:t>
            </a:r>
            <a:r>
              <a:rPr sz="1200">
                <a:solidFill>
                  <a:srgbClr val="1E1E1E"/>
                </a:solidFill>
                <a:latin typeface="Arial"/>
              </a:rPr>
              <a:t>Điểm quan trọng không chỉ là EA tăng, mà khoảng cách EA-PA giảm sau PCPO và verifier.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17. Ablation: đóng góp từng tầng kỹ thuật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143000"/>
          <a:ext cx="795527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819"/>
                <a:gridCol w="1988819"/>
                <a:gridCol w="1988819"/>
                <a:gridCol w="1988822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Arial"/>
                        </a:rPr>
                        <a:t>Tầng kỹ thuật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Arial"/>
                        </a:rPr>
                        <a:t>EA Δ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Arial"/>
                        </a:rPr>
                        <a:t>PA Δ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9" b="1">
                          <a:solidFill>
                            <a:srgbClr val="FFFFFF"/>
                          </a:solidFill>
                          <a:latin typeface="Arial"/>
                        </a:rPr>
                        <a:t>Diễn giải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69" b="1">
                          <a:solidFill>
                            <a:srgbClr val="1E1E1E"/>
                          </a:solidFill>
                          <a:latin typeface="Arial"/>
                        </a:rPr>
                        <a:t>Zero-shot → 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+52,1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+45,4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Học format DSL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69" b="1">
                          <a:solidFill>
                            <a:srgbClr val="1E1E1E"/>
                          </a:solidFill>
                          <a:latin typeface="Arial"/>
                        </a:rPr>
                        <a:t>SFT → GRPO no gate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+2,6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+2,2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Reward execution còn yếu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69" b="1">
                          <a:solidFill>
                            <a:srgbClr val="1E1E1E"/>
                          </a:solidFill>
                          <a:latin typeface="Arial"/>
                        </a:rPr>
                        <a:t>GRPO no gate → PCPO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+4,7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+13,3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Gate chương trình hợp lệ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69" b="1">
                          <a:solidFill>
                            <a:srgbClr val="1E1E1E"/>
                          </a:solidFill>
                          <a:latin typeface="Arial"/>
                        </a:rPr>
                        <a:t>PCPO → verifier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+2,4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+3,8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9" b="0">
                          <a:solidFill>
                            <a:srgbClr val="1E1E1E"/>
                          </a:solidFill>
                          <a:latin typeface="Arial"/>
                        </a:rPr>
                        <a:t>Ổn định multi-path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703320"/>
            <a:ext cx="768096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20" b="1">
                <a:solidFill>
                  <a:srgbClr val="A50021"/>
                </a:solidFill>
                <a:latin typeface="Arial"/>
              </a:rPr>
              <a:t>• </a:t>
            </a:r>
            <a:r>
              <a:rPr sz="1220">
                <a:solidFill>
                  <a:srgbClr val="1E1E1E"/>
                </a:solidFill>
                <a:latin typeface="Arial"/>
              </a:rPr>
              <a:t>SFT tạo bước nhảy lớn nhất vì mô hình chuyển từ free-form text sang output có cấu trúc.</a:t>
            </a:r>
          </a:p>
          <a:p>
            <a:pPr>
              <a:spcAft>
                <a:spcPts val="500"/>
              </a:spcAft>
            </a:pPr>
            <a:r>
              <a:rPr sz="1220" b="1">
                <a:solidFill>
                  <a:srgbClr val="A50021"/>
                </a:solidFill>
                <a:latin typeface="Arial"/>
              </a:rPr>
              <a:t>• </a:t>
            </a:r>
            <a:r>
              <a:rPr sz="1220">
                <a:solidFill>
                  <a:srgbClr val="1E1E1E"/>
                </a:solidFill>
                <a:latin typeface="Arial"/>
              </a:rPr>
              <a:t>PCPO là đóng góp nổi bật nhất cho PA: reward không cho phép chương trình sai cú pháp nhận điểm.</a:t>
            </a:r>
          </a:p>
          <a:p>
            <a:pPr>
              <a:spcAft>
                <a:spcPts val="500"/>
              </a:spcAft>
            </a:pPr>
            <a:r>
              <a:rPr sz="1220" b="1">
                <a:solidFill>
                  <a:srgbClr val="A50021"/>
                </a:solidFill>
                <a:latin typeface="Arial"/>
              </a:rPr>
              <a:t>• </a:t>
            </a:r>
            <a:r>
              <a:rPr sz="1220">
                <a:solidFill>
                  <a:srgbClr val="1E1E1E"/>
                </a:solidFill>
                <a:latin typeface="Arial"/>
              </a:rPr>
              <a:t>Verifier inference cải thiện độ ổn định cuối pipeline, nhất là khi có nhiều candidate cùng đáp án nhưng khác chương trình.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5486400"/>
            <a:ext cx="7223760" cy="384048"/>
          </a:xfrm>
          <a:prstGeom prst="rect">
            <a:avLst/>
          </a:prstGeom>
          <a:solidFill>
            <a:srgbClr val="F7F7F7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150" b="1">
                <a:solidFill>
                  <a:srgbClr val="A50021"/>
                </a:solidFill>
                <a:latin typeface="Arial"/>
              </a:rPr>
              <a:t>Thông điệp ablation: mỗi tầng tăng vừa phải nhưng có cơ chế rõ ràng, tránh diễn giải quá lạc quan.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18. Phân tích lỗi và hướng xử lý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51560"/>
          <a:ext cx="81381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Loại lỗi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Tỷ lệ gần đúng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</a:rPr>
                        <a:t>Hướng xử lý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Sai phép toán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Tăng mẫu phân biệt add/subtract/divide; hard-negative mining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Sai mapping bảng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Fuzzy header matching + evidence map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Thiếu bước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Curriculum theo độ dài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Sai năm/cột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Reward chứng cứ, map số về cell/span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1E1E1E"/>
                          </a:solidFill>
                          <a:latin typeface="Arial"/>
                        </a:rPr>
                        <a:t>Đơn vị %/số tuyệt đối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E1E1E"/>
                          </a:solidFill>
                          <a:latin typeface="Arial"/>
                        </a:rPr>
                        <a:t>Detect từ khóa phần trăm và hậu xử lý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4343400"/>
            <a:ext cx="777240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</a:pPr>
            <a:r>
              <a:rPr sz="1220" b="1">
                <a:solidFill>
                  <a:srgbClr val="A50021"/>
                </a:solidFill>
                <a:latin typeface="Arial"/>
              </a:rPr>
              <a:t>• </a:t>
            </a:r>
            <a:r>
              <a:rPr sz="1220">
                <a:solidFill>
                  <a:srgbClr val="1E1E1E"/>
                </a:solidFill>
                <a:latin typeface="Arial"/>
              </a:rPr>
              <a:t>Phân tích lỗi không chỉ để liệt kê thất bại, mà để xác định đúng đòn bẩy kỹ thuật cho vòng nghiên cứu tiếp theo.</a:t>
            </a:r>
          </a:p>
          <a:p>
            <a:pPr>
              <a:spcAft>
                <a:spcPts val="500"/>
              </a:spcAft>
            </a:pPr>
            <a:r>
              <a:rPr sz="1220" b="1">
                <a:solidFill>
                  <a:srgbClr val="A50021"/>
                </a:solidFill>
                <a:latin typeface="Arial"/>
              </a:rPr>
              <a:t>• </a:t>
            </a:r>
            <a:r>
              <a:rPr sz="1220">
                <a:solidFill>
                  <a:srgbClr val="1E1E1E"/>
                </a:solidFill>
                <a:latin typeface="Arial"/>
              </a:rPr>
              <a:t>Hướng ưu tiên: PCPO-Evidence, grammar-constrained decoding và sinh program_re cho ViNumQA bằng rewrite rules.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50021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7909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1850" b="1" i="0">
                <a:solidFill>
                  <a:srgbClr val="A50021"/>
                </a:solidFill>
                <a:latin typeface="Arial"/>
              </a:rPr>
              <a:t>19. Kết luận và đóng góp chính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8638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55664"/>
            <a:ext cx="8321040" cy="0"/>
          </a:xfrm>
          <a:prstGeom prst="line">
            <a:avLst/>
          </a:prstGeom>
          <a:ln w="1016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6510528"/>
            <a:ext cx="6995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r>
              <a:rPr sz="819" b="0" i="0">
                <a:solidFill>
                  <a:srgbClr val="585858"/>
                </a:solidFill>
                <a:latin typeface="Arial"/>
              </a:rPr>
              <a:t>Đại học Bách khoa Hà Nội | VLSP 2025 NumQA | Program-Centric KD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492240"/>
            <a:ext cx="3657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/>
            <a:r>
              <a:rPr sz="900" b="1" i="0">
                <a:solidFill>
                  <a:srgbClr val="A50021"/>
                </a:solidFill>
                <a:latin typeface="Arial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51560"/>
            <a:ext cx="7772400" cy="31089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220" b="1">
                <a:solidFill>
                  <a:srgbClr val="A50021"/>
                </a:solidFill>
                <a:latin typeface="Arial"/>
              </a:rPr>
              <a:t>• </a:t>
            </a:r>
            <a:r>
              <a:rPr sz="1220">
                <a:solidFill>
                  <a:srgbClr val="1E1E1E"/>
                </a:solidFill>
                <a:latin typeface="Arial"/>
              </a:rPr>
              <a:t>Đề tài định vị VLSP NumQA như bài toán sinh chương trình kiểm chứng được, không phải bài toán đoán số đơn thuần.</a:t>
            </a:r>
          </a:p>
          <a:p>
            <a:pPr>
              <a:spcAft>
                <a:spcPts val="600"/>
              </a:spcAft>
            </a:pPr>
            <a:r>
              <a:rPr sz="1220" b="1">
                <a:solidFill>
                  <a:srgbClr val="A50021"/>
                </a:solidFill>
                <a:latin typeface="Arial"/>
              </a:rPr>
              <a:t>• </a:t>
            </a:r>
            <a:r>
              <a:rPr sz="1220">
                <a:solidFill>
                  <a:srgbClr val="1E1E1E"/>
                </a:solidFill>
                <a:latin typeface="Arial"/>
              </a:rPr>
              <a:t>Đóng góp dữ liệu: Markdown table, Vi+En multilingual merging, program_re augmentation và quality gate bằng executor.</a:t>
            </a:r>
          </a:p>
          <a:p>
            <a:pPr>
              <a:spcAft>
                <a:spcPts val="600"/>
              </a:spcAft>
            </a:pPr>
            <a:r>
              <a:rPr sz="1220" b="1">
                <a:solidFill>
                  <a:srgbClr val="A50021"/>
                </a:solidFill>
                <a:latin typeface="Arial"/>
              </a:rPr>
              <a:t>• </a:t>
            </a:r>
            <a:r>
              <a:rPr sz="1220">
                <a:solidFill>
                  <a:srgbClr val="1E1E1E"/>
                </a:solidFill>
                <a:latin typeface="Arial"/>
              </a:rPr>
              <a:t>Đóng góp phương pháp: Guided Reasoning Distillation giúp teacher truyền reasoning trace sạch hơn cho student 4B.</a:t>
            </a:r>
          </a:p>
          <a:p>
            <a:pPr>
              <a:spcAft>
                <a:spcPts val="600"/>
              </a:spcAft>
            </a:pPr>
            <a:r>
              <a:rPr sz="1220" b="1">
                <a:solidFill>
                  <a:srgbClr val="A50021"/>
                </a:solidFill>
                <a:latin typeface="Arial"/>
              </a:rPr>
              <a:t>• </a:t>
            </a:r>
            <a:r>
              <a:rPr sz="1220">
                <a:solidFill>
                  <a:srgbClr val="1E1E1E"/>
                </a:solidFill>
                <a:latin typeface="Arial"/>
              </a:rPr>
              <a:t>Đóng góp thuật toán: GRPO + PCPO reward đặt tính hợp lệ chương trình làm điều kiện nhận reward.</a:t>
            </a:r>
          </a:p>
          <a:p>
            <a:pPr>
              <a:spcAft>
                <a:spcPts val="600"/>
              </a:spcAft>
            </a:pPr>
            <a:r>
              <a:rPr sz="1220" b="1">
                <a:solidFill>
                  <a:srgbClr val="A50021"/>
                </a:solidFill>
                <a:latin typeface="Arial"/>
              </a:rPr>
              <a:t>• </a:t>
            </a:r>
            <a:r>
              <a:rPr sz="1220">
                <a:solidFill>
                  <a:srgbClr val="1E1E1E"/>
                </a:solidFill>
                <a:latin typeface="Arial"/>
              </a:rPr>
              <a:t>Đóng góp hệ thống: verifier-guided inference chọn lời giải dựa trên chương trình thực thi, phù hợp môi trường học thuật và tài chính.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800600"/>
            <a:ext cx="7315200" cy="658368"/>
          </a:xfrm>
          <a:prstGeom prst="rect">
            <a:avLst/>
          </a:prstGeom>
          <a:solidFill>
            <a:srgbClr val="F7F7F7"/>
          </a:solidFill>
          <a:ln w="1016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>
            <a:normAutofit/>
          </a:bodyPr>
          <a:lstStyle/>
          <a:p>
            <a:pPr algn="ctr"/>
            <a:r>
              <a:rPr sz="1300" b="1">
                <a:solidFill>
                  <a:srgbClr val="A50021"/>
                </a:solidFill>
                <a:latin typeface="Arial"/>
              </a:rPr>
              <a:t>Kết luận: executor DSL là trục thống nhất giữa dữ liệu, huấn luyện, reward, inference và đánh giá.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87568"/>
            <a:ext cx="7315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/>
            <a:r>
              <a:rPr sz="1150" b="0" i="0">
                <a:solidFill>
                  <a:srgbClr val="585858"/>
                </a:solidFill>
                <a:latin typeface="Arial"/>
              </a:rPr>
              <a:t>Hướng tiếp theo: PCPO-Evidence, grammar-constrained decoding, fuzzy matching và chương trình tương đương cho ViNumQA.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</TotalTime>
  <Words>5325</Words>
  <Application>Microsoft Office PowerPoint</Application>
  <PresentationFormat>On-screen Show (4:3)</PresentationFormat>
  <Paragraphs>931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Đỗ Thành Đức</cp:lastModifiedBy>
  <cp:revision>18</cp:revision>
  <dcterms:created xsi:type="dcterms:W3CDTF">2021-05-28T04:32:29Z</dcterms:created>
  <dcterms:modified xsi:type="dcterms:W3CDTF">2026-05-23T01:00:00Z</dcterms:modified>
</cp:coreProperties>
</file>