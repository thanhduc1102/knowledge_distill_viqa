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1"/>
  </p:notesMasterIdLst>
  <p:handoutMasterIdLst>
    <p:handoutMasterId r:id="rId32"/>
  </p:handoutMasterIdLst>
  <p:sldIdLst>
    <p:sldId id="285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05/23/2026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05/23/2026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83" r:id="rId6"/>
    <p:sldLayoutId id="2147483676" r:id="rId7"/>
    <p:sldLayoutId id="2147483679" r:id="rId8"/>
    <p:sldLayoutId id="2147483680" r:id="rId9"/>
    <p:sldLayoutId id="2147483681" r:id="rId10"/>
    <p:sldLayoutId id="2147483682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114766"/>
            <a:ext cx="7767313" cy="8487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/>
              <a:t>Numerical Reasoning Question and Answer</a:t>
            </a:r>
            <a:endParaRPr lang="en-US" sz="4800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4068311"/>
            <a:ext cx="7342482" cy="84879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>
                <a:latin typeface="Lato"/>
                <a:ea typeface="Lato"/>
                <a:cs typeface="Lato"/>
              </a:rPr>
              <a:t>SV: </a:t>
            </a:r>
            <a:r>
              <a:rPr lang="vi-VN" sz="2800" b="0">
                <a:latin typeface="Lato"/>
                <a:ea typeface="Lato"/>
                <a:cs typeface="Lato"/>
              </a:rPr>
              <a:t>Đỗ Thành Đức</a:t>
            </a:r>
            <a:endParaRPr lang="en-US" sz="2800" b="0" dirty="0">
              <a:latin typeface="Lato"/>
              <a:ea typeface="Lato"/>
              <a:cs typeface="Lato"/>
            </a:endParaRPr>
          </a:p>
          <a:p>
            <a:r>
              <a:rPr lang="en-US" sz="2800" b="0">
                <a:latin typeface="Lato"/>
                <a:ea typeface="Lato"/>
                <a:cs typeface="Lato"/>
              </a:rPr>
              <a:t>GVHD: </a:t>
            </a:r>
            <a:r>
              <a:rPr lang="vi-VN" sz="2800" b="0">
                <a:latin typeface="Lato"/>
                <a:ea typeface="Lato"/>
                <a:cs typeface="Lato"/>
              </a:rPr>
              <a:t>PGS.TS</a:t>
            </a:r>
            <a:r>
              <a:rPr lang="en-US" sz="2800" b="0">
                <a:latin typeface="Lato"/>
                <a:ea typeface="Lato"/>
                <a:cs typeface="Lato"/>
              </a:rPr>
              <a:t>. </a:t>
            </a:r>
            <a:r>
              <a:rPr lang="vi-VN" sz="2800" b="0">
                <a:latin typeface="Lato"/>
                <a:ea typeface="Lato"/>
                <a:cs typeface="Lato"/>
              </a:rPr>
              <a:t>Lê Thanh Hương</a:t>
            </a:r>
            <a:endParaRPr lang="en-US" sz="2800" b="0" dirty="0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Mục lục báo cáo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 i="1">
                <a:solidFill>
                  <a:srgbClr val="5A5A5A"/>
                </a:solidFill>
                <a:latin typeface="Arial"/>
              </a:rPr>
              <a:t>Theo quy trình báo cáo nghiên cứu chuẩn (6 chương)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371600" cy="713232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1417320"/>
            <a:ext cx="2834640" cy="71323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250" b="1">
                <a:solidFill>
                  <a:srgbClr val="2E64AC"/>
                </a:solidFill>
                <a:latin typeface="Arial"/>
              </a:rPr>
              <a:t>Giới thiệu và Mô tả bài toán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17320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Bối cảnh, input/output, ví dụ mẫu, thống kê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85416"/>
            <a:ext cx="1371600" cy="713232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2185416"/>
            <a:ext cx="2834640" cy="713232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250" b="1">
                <a:solidFill>
                  <a:srgbClr val="A50021"/>
                </a:solidFill>
                <a:latin typeface="Arial"/>
              </a:rPr>
              <a:t>Tổng quan nghiên cứu liên quan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85416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Ba nghiên cứu nền tảng pre-2026: FinQA, Step-by-Step, GRPO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53512"/>
            <a:ext cx="1371600" cy="713232"/>
          </a:xfrm>
          <a:prstGeom prst="roundRect">
            <a:avLst/>
          </a:prstGeom>
          <a:solidFill>
            <a:srgbClr val="CD8423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953512"/>
            <a:ext cx="2834640" cy="713232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250" b="1">
                <a:solidFill>
                  <a:srgbClr val="CD8423"/>
                </a:solidFill>
                <a:latin typeface="Arial"/>
              </a:rPr>
              <a:t>Phân tích bài toán &amp; Cơ sở lý thuyết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953512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KD, PEFT (LoRA), RL verifier-reward — định hướng program-centric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21608"/>
            <a:ext cx="1371600" cy="713232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721608"/>
            <a:ext cx="2834640" cy="713232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250" b="1">
                <a:solidFill>
                  <a:srgbClr val="2E8756"/>
                </a:solidFill>
                <a:latin typeface="Arial"/>
              </a:rPr>
              <a:t>Phương pháp đề xuất (5 đóng góp)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721608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Dữ liệu, Guided KD, LoRA-SFT, GRPO+PCPO, Verifier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9704"/>
            <a:ext cx="1371600" cy="713232"/>
          </a:xfrm>
          <a:prstGeom prst="roundRect">
            <a:avLst/>
          </a:prstGeom>
          <a:solidFill>
            <a:srgbClr val="704EAA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489704"/>
            <a:ext cx="2834640" cy="713232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250" b="1">
                <a:solidFill>
                  <a:srgbClr val="704EAA"/>
                </a:solidFill>
                <a:latin typeface="Arial"/>
              </a:rPr>
              <a:t>Cài đặt thực nghiệm &amp; Kết quả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489704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Hardware, hyperparam, ablation, phân tích lỗi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57800"/>
            <a:ext cx="1371600" cy="713232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5257800"/>
            <a:ext cx="2834640" cy="71323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250" b="1">
                <a:solidFill>
                  <a:srgbClr val="2E64AC"/>
                </a:solidFill>
                <a:latin typeface="Arial"/>
              </a:rPr>
              <a:t>Thảo luận &amp; Kết luận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5257800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Vì sao đạt kết quả, hạn chế, hướng phát triển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1. Bối cảnh và động cơ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0" i="1">
                <a:solidFill>
                  <a:srgbClr val="5A5A5A"/>
                </a:solidFill>
                <a:latin typeface="Arial"/>
              </a:rPr>
              <a:t>VLSP 2025 NumQA — challenge đầu tiên cho cộng đồng NLP Việt về suy luận số tài chính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" cy="1325880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80160"/>
            <a:ext cx="2194560" cy="13258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E64AC"/>
                </a:solidFill>
                <a:latin typeface="Arial"/>
              </a:rPr>
              <a:t>Suy luận số đa bước trên bảng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8016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Trung bình 1,56 bước/program, tối đa 7 bước. Mỗi bước có thể truy bảng (table_sum, table_average...) hoặc tính trên kết quả bước trước (#0, #1...).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Lỗi ở bước đầu lan truyền → toàn bộ chương trình sai → cả EA và PA về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97480"/>
            <a:ext cx="685800" cy="132588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2194560" cy="13258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Bảng tài chính tiếng Việt dị thường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69748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Header chứa dấu tiếng Việt, đơn vị ("triệu đồng"), năm ("2022"), tên cột dài.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Tham chiếu trong câu hỏi thường KHÔNG khớp exact với header → cần chiến lược matching dung sai cao nhưng không sai khớp (đề xuất 4-strategy header matching ở Mục 4.2.2).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14800"/>
            <a:ext cx="685800" cy="1325880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14800"/>
            <a:ext cx="2194560" cy="13258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E8756"/>
                </a:solidFill>
                <a:latin typeface="Arial"/>
              </a:rPr>
              <a:t>Dữ liệu tiếng Việt khan hiếm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11480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ViNumQA train chỉ có 2.993 mẫu — ít hơn nhiều so với FinQA (6.251 mẫu English).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Dịch FinQA En → Vi gây lỗi số ("1,840" → văn bản), lỗi đơn vị → cần multilingual mà KHÔNG dịch, để mô hình tự xử lý hai ngôn ngữ.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577840"/>
            <a:ext cx="8412480" cy="82296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HỆ QUẢ: trong tài chính một đáp án đúng nhưng không kiểm toán được không đủ tin cậy.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→ Mục tiêu PA quan trọng hơn EA → toàn bộ pipeline được thiết kế PROGRAM-CENTRIC.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2. Phát biểu hình thức bài toán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2606040" cy="9601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INPUT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x = (pre_text, table, post_text, question)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08960" y="1444752"/>
            <a:ext cx="347472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520440" y="960120"/>
            <a:ext cx="2331720" cy="9601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OUTPUT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y = (reasoning, program, answer)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97880" y="1444752"/>
            <a:ext cx="347472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09360" y="960120"/>
            <a:ext cx="2331720" cy="960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MỤC TIÊU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PA trước, EA sau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8183879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A50021"/>
                </a:solidFill>
                <a:latin typeface="Arial"/>
              </a:rPr>
              <a:t>p* = argmax_p  P_θ(p | x)</a:t>
            </a:r>
          </a:p>
          <a:p>
            <a:pPr algn="ctr"/>
            <a:r>
              <a:rPr sz="1400" b="0">
                <a:solidFill>
                  <a:srgbClr val="A50021"/>
                </a:solidFill>
                <a:latin typeface="Arial"/>
              </a:rPr>
              <a:t>subject to:  valid(p) = 1   ∧   exec(p) ≈ a_gold   ∧   p ≡_sym p_gold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4069080" cy="13258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RQ1 - Dữ liệu</a:t>
            </a:r>
          </a:p>
          <a:p>
            <a:pPr algn="ctr"/>
            <a:endParaRPr sz="1200" b="1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Tín hiệu học hướng chương trình bằng cách nào?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246120"/>
            <a:ext cx="4069080" cy="13258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RQ2 - Distillation</a:t>
            </a:r>
          </a:p>
          <a:p>
            <a:pPr algn="ctr"/>
            <a:endParaRPr sz="1200" b="1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Teacher nên truyền gì sang student?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59"/>
            <a:ext cx="4069080" cy="13258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RQ3 - RL</a:t>
            </a:r>
          </a:p>
          <a:p>
            <a:pPr algn="ctr"/>
            <a:endParaRPr sz="1200" b="1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Vì sao GRPO/PCPO phù hợp PA hơn DPO/PPO/RLVR?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709159"/>
            <a:ext cx="4069080" cy="1325880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RQ4 - Inference</a:t>
            </a:r>
          </a:p>
          <a:p>
            <a:pPr algn="ctr"/>
            <a:endParaRPr sz="1200" b="1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Verifier và multi-path để tăng độ tin cậy?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8183879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0" i="1">
                <a:solidFill>
                  <a:srgbClr val="A50021"/>
                </a:solidFill>
                <a:latin typeface="Arial"/>
              </a:rPr>
              <a:t>PA chặt hơn EA: PA ≡ symbolic equivalence; EA chỉ là điều kiện cần.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3. Ví dụ minh họa với dữ liệu mẫu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Một mẫu thực tế minh hoạ: input → reasoning → program →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4114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50" b="1" i="0">
                <a:solidFill>
                  <a:srgbClr val="A50021"/>
                </a:solidFill>
                <a:latin typeface="Arial"/>
              </a:rPr>
              <a:t>Bảng dữ liệu (Markdown):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4114800" cy="1474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Năm 2022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Năm 2023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Doanh thu thuần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12.450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15.230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Giá vốn hàng bán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8.120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9.760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Lợi nhuận sau thuế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1.840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2.510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063240"/>
            <a:ext cx="4114800" cy="777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Câu hỏi: Tỉ lệ tăng trưởng lợi nhuận sau thuế năm 2023 so với năm 2022 là bao nhiêu phần trăm?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07008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50" b="1" i="0">
                <a:solidFill>
                  <a:srgbClr val="A50021"/>
                </a:solidFill>
                <a:latin typeface="Arial"/>
              </a:rPr>
              <a:t>Đầu ra mong đợi: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08760"/>
            <a:ext cx="3931920" cy="8686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Reasoning: LNST 2023 = 2.510, 2022 = 1.840.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Mức tăng tuyệt đối = 2.510 − 1.840 = 670.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Tỉ lệ = 670 / 1.840 ≈ 0,3641.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20840" y="2423160"/>
            <a:ext cx="0" cy="182880"/>
          </a:xfrm>
          <a:prstGeom prst="line">
            <a:avLst/>
          </a:prstGeom>
          <a:ln w="2286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2651760"/>
            <a:ext cx="3931920" cy="7772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Program (DSL):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subtract(2510, 1840),  divide(#0, 1840)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3474720"/>
            <a:ext cx="0" cy="182880"/>
          </a:xfrm>
          <a:prstGeom prst="line">
            <a:avLst/>
          </a:prstGeom>
          <a:ln w="2286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3703320"/>
            <a:ext cx="3931920" cy="45720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Answer: 0.3641 (≈ 36,41%)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34840"/>
            <a:ext cx="8229600" cy="169164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endParaRPr sz="12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1" y="4565142"/>
            <a:ext cx="7955279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• </a:t>
            </a:r>
            <a:r>
              <a:rPr sz="1100">
                <a:solidFill>
                  <a:srgbClr val="FFFFFF"/>
                </a:solidFill>
                <a:latin typeface="Arial"/>
              </a:rPr>
              <a:t>Program có 2 bước: subtract → divide; reference #0 trỏ về bước 0.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• </a:t>
            </a:r>
            <a:r>
              <a:rPr sz="1100">
                <a:solidFill>
                  <a:srgbClr val="FFFFFF"/>
                </a:solidFill>
                <a:latin typeface="Arial"/>
              </a:rPr>
              <a:t>Một chương trình thay thế (program_re): divide(subtract(2510,1840), 1840) — khác cấu trúc, cùng đáp án, vẫn đạt PA nếu sympy rewrite tương đương.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• </a:t>
            </a:r>
            <a:r>
              <a:rPr sz="1100">
                <a:solidFill>
                  <a:srgbClr val="FFFFFF"/>
                </a:solidFill>
                <a:latin typeface="Arial"/>
              </a:rPr>
              <a:t>Phép table_average(Lợi nhuận sau thuế) cần executor map header tiếng Việt → 4-strategy header matching (Mục 4.2.2 trong báo cáo).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• </a:t>
            </a:r>
            <a:r>
              <a:rPr sz="1100">
                <a:solidFill>
                  <a:srgbClr val="FFFFFF"/>
                </a:solidFill>
                <a:latin typeface="Arial"/>
              </a:rPr>
              <a:t>Mỗi mẫu trung bình 1,56 bước; 10% mẫu ≥ 3 bước — vùng student dễ sai.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4. Phân tích thống kê bộ dữ liệu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4434840" cy="246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Tập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# mẫu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Bảng (H×C)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Bước/program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ViNumQA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2.993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8,15 × 5,29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ViNumQA valid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8,25 × 5,46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1,51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ViNumQA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8,58 × 5,19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ViNumQA private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1.625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9,12 × 6,22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FinQA train+ext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6.251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6,34 × 3,84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474720"/>
            <a:ext cx="443484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50" b="0" i="1">
                <a:solidFill>
                  <a:srgbClr val="5A5A5A"/>
                </a:solidFill>
                <a:latin typeface="Arial"/>
              </a:rPr>
              <a:t>Bảng 3.1 - Số mẫu, kích thước và độ phức tạp chương trình (thực)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60120"/>
            <a:ext cx="39319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Tần suất phép toán - ViNumQA 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308163"/>
            <a:ext cx="155448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divide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326451"/>
            <a:ext cx="1763268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11896" y="1308163"/>
            <a:ext cx="50292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1780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16773"/>
            <a:ext cx="155448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subtract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635061"/>
            <a:ext cx="1400708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11896" y="1616773"/>
            <a:ext cx="50292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1414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25383"/>
            <a:ext cx="155448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add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943671"/>
            <a:ext cx="737006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1896" y="1925383"/>
            <a:ext cx="50292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744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33993"/>
            <a:ext cx="155448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multiply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252281"/>
            <a:ext cx="257555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2233993"/>
            <a:ext cx="50292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260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542603"/>
            <a:ext cx="155448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table_max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60891"/>
            <a:ext cx="176326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2542603"/>
            <a:ext cx="50292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51213"/>
            <a:ext cx="155448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table_average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869501"/>
            <a:ext cx="124815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1896" y="2851213"/>
            <a:ext cx="50292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159823"/>
            <a:ext cx="155448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table_min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178111"/>
            <a:ext cx="99059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1896" y="3159823"/>
            <a:ext cx="50292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468433"/>
            <a:ext cx="155448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table_sum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486721"/>
            <a:ext cx="51511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11896" y="3468433"/>
            <a:ext cx="502920" cy="2371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52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023360"/>
            <a:ext cx="4160520" cy="219456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09651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ViNumQA - chiến lược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407408"/>
            <a:ext cx="3977639" cy="10761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1.625 mẫu private test không có label → cần generalize qua FinQA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Phép toán bảng (table_*) chỉ ~16% → tín hiệu hiếm; FinQA bổ sung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Trung bình 1,56 bước → bài toán ngắn nhưng dày bảng/chứng cứ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023360"/>
            <a:ext cx="4160520" cy="21945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409651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FinQA - tài sản quý cho 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4407408"/>
            <a:ext cx="3941063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6.251 mẫu English bổ sung greater, exp; tận dụng multilingual Qwen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2.534 program_re KHÁC program gốc → 40,5% mẫu có lời giải thay thế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→ Augmentation trực tiếp tăng PA, dạy tương đương symbolic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5. Ba nghiên cứu nền tảng — định vị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0" i="1">
                <a:solidFill>
                  <a:srgbClr val="5A5A5A"/>
                </a:solidFill>
                <a:latin typeface="Arial"/>
              </a:rPr>
              <a:t>Đề tài giao thoa 3 dòng nghiên cứu nền tảng pre-2026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8229600" cy="292608"/>
          </a:xfrm>
          <a:prstGeom prst="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97280" cy="566928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188720"/>
            <a:ext cx="1097280" cy="566928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1097280" cy="566928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188720"/>
            <a:ext cx="1097280" cy="566928"/>
          </a:xfrm>
          <a:prstGeom prst="roundRect">
            <a:avLst/>
          </a:prstGeom>
          <a:solidFill>
            <a:srgbClr val="704EAA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743200" cy="457200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FinQA — Chen et al. (EMNLP 2021)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2743200" cy="21031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DSL 10 phép toán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Retriever+Generator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FinQANet: EA 61% / PA 59%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→ DSL kế thừa nguyên dạng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743200" cy="45720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Step-by-Step — Hsieh et al. (ACL 2023)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468880"/>
            <a:ext cx="2743200" cy="2103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Teacher 540B sinh rationale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Student 770M-11B multi-task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Vượt teacher với 12,5% data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→ ý tưởng truyền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743200" cy="457200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DeepSeekMath GRPO — Shao et al. (2024)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2743200" cy="21031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RL không value model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Group baseline + KL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51,7% trên MATH (7B)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→ backbone RL của đề tài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8229600" cy="132588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ĐỀ TÀI 2025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Không phát minh lại DSL, không phát minh lại GRPO.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Đóng góp = tích hợp 3 dòng trên với executor DSL ở trung tâm,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thêm Guided Distillation và PCPO reward 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6. Nghiên cứu nền tảng 1 — FinQA (EMNLP 2021)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50" b="0" i="1">
                <a:solidFill>
                  <a:srgbClr val="5A5A5A"/>
                </a:solidFill>
                <a:latin typeface="Arial"/>
              </a:rPr>
              <a:t>Chen, Z. et al. (2021). EMNLP. arXiv:2109.00122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1148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Đóng góp chính của FinQA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3108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Dataset 8.281 cặp QA tài chính từ S&amp;P 500 (train 6.251, dev 883, test 1.147).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Định nghĩa DSL 10 phép toán: add, subtract, multiply, divide, exp, greater, table_sum, table_max, table_min, table_average.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Kiến trúc baseline Retriever (BERT) + Generator (encoder-decoder) sinh program.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Định nghĩa metric chuẩn EA + PA (sympy symbolic equivalence).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9319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Kết quả công bố trên FinQA test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554480"/>
          <a:ext cx="3931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GPT-3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Longformer + Gen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BERT base + 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FinQANet (RoBERTa-large)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58,9%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Human expert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91,2%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846320"/>
            <a:ext cx="8229600" cy="137160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LIÊN HỆ VỚI ĐỀ TÀI: kế thừa nguyên dạng DSL 10 phép + EA/PA metric.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Khác biệt: đề tài chuyển sang tiếng Việt, dùng LLM Qwen3.5 thay encoder-decoder chuyên biệt,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thêm KD + GRPO + Verifier — vượt FinQANet PA 58,9% lên ~70,5% với mô hình LoRA 98M tham số.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7. Nghiên cứu nền tảng 2 — Distilling Step-by-Step (ACL 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50" b="0" i="1">
                <a:solidFill>
                  <a:srgbClr val="5A5A5A"/>
                </a:solidFill>
                <a:latin typeface="Arial"/>
              </a:rPr>
              <a:t>Hsieh, C.-Y. et al. (2023). ACL Findings. arXiv:2305.02301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Ý tưởng cốt lõi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229600" cy="8686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0">
                <a:solidFill>
                  <a:srgbClr val="232323"/>
                </a:solidFill>
                <a:latin typeface="Arial"/>
              </a:rPr>
              <a:t>Teacher LLM 540B sinh thêm RATIONALE ngoài label.</a:t>
            </a:r>
          </a:p>
          <a:p>
            <a:pPr algn="ctr"/>
            <a:r>
              <a:rPr sz="1300" b="0">
                <a:solidFill>
                  <a:srgbClr val="232323"/>
                </a:solidFill>
                <a:latin typeface="Arial"/>
              </a:rPr>
              <a:t>Student multi-task: L = α·L_label + (1−α)·L_rationale.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41148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Kết quả công bố (ANLI)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4114800" cy="1917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PaLM 540B 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540B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T5-Base SFT chuẩn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49,2%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220M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T5-Base + Step-by-Step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220M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T5-XXL + Step-by-Step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11B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0" y="2606040"/>
            <a:ext cx="39319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Đề tài làm khác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3931920" cy="2011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Hsieh: teacher TỰ SINH rationale → 40% nhiễu hallucination.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Đề tài: GOLD PROGRAM nhúng prompt → teacher chỉ "giải thích".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Trace hợp lệ: 60% → 95% (+35 điểm).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Quality tier 4 mức làm safety 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8229600" cy="109728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KẾ THỪA: ý tưởng truyền rationale.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CẢI TIẾN: đảo vai trò teacher từ generator sang explainer → tận dụng KD reasoning nhưng triệt tiêu hallucination.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8. Nghiên cứu nền tảng 3 — GRPO trong DeepSeekMath (2024)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50" b="0" i="1">
                <a:solidFill>
                  <a:srgbClr val="5A5A5A"/>
                </a:solidFill>
                <a:latin typeface="Arial"/>
              </a:rPr>
              <a:t>Shao, Z. et al. (2024). DeepSeekMath. arXiv:2402.03300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Công thức GRPO (tóm tắt)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22960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Sample G outputs {o_i} ~ π_old (·| q)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Group advantage:  Â_i = (r_i − mean(r)) / (std(r) + ε)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L_GRPO = − (1/G) Σ_i (1/|o_i|) Σ_t min( ρ_{i,t}·Â_i, clip(ρ,1−ε,1+ε)·Â_i ) + β·KL(π_θ ∥ π_ref)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ρ_{i,t} = π_θ(o_{i,t}| q, o_{i,&lt;t}) / π_old(o_{i,t}| q, o_{i,&lt;t})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41148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GRPO vs PPO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00400"/>
          <a:ext cx="4114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Khía cạnh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PPO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Yêu cầu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Policy +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Chỉ Policy + 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Bộ nhớ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~2× params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~1× params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V_φ(s)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Mean reward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Reward sparse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Khó học V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Group norm OK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0" y="2880360"/>
            <a:ext cx="39319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Đề tài kế thừa &amp; mở rộng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200400"/>
            <a:ext cx="3931920" cy="1920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Backbone RL = GRPO (G=5, KL=1e-3).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Reward gốc DeepSeek: chỉ Acc trên đáp án toán.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Đề tài thay bằng PCPO reward.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R_valid làm HARD GATE — bịt lucky-answer.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PA tăng +13,3 điểm nhờ gate này.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66360"/>
            <a:ext cx="8229600" cy="10058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KẾT QUẢ DeepSeekMath-7B-RL: 51,7% MATH (SOTA open 7B đầu 2024).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Đề tài áp dụng GRPO cho student 4B + reward đặc thù DSL.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9. Định vị đóng góp của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Bảng so sánh trực diện: đề tài kế thừa gì, đóng góp gì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8595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Khía cạnh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FinQA 2021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Step-by-Step 2023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GRPO 2024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ĐỀ TÀI 2025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Ngôn ngữ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Anh (toán)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Việt + 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DSL chương trình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Đề xuất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Kế thừa FinQA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Distillation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Free rationale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Guided + 4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RL algorithm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GRPO + Acc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GRPO + PCPO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Verifier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Sympy outside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Math checker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Executor in mọi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Inference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Multi-path + verifier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Tham số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~330M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770M-11B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98M LoRA / 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49240"/>
            <a:ext cx="8229600" cy="8686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50" b="1">
                <a:solidFill>
                  <a:srgbClr val="A50021"/>
                </a:solidFill>
                <a:latin typeface="Arial"/>
              </a:rPr>
              <a:t>ĐÓNG GÓP CHÍNH = THIẾT KẾ HỆ THỐNG</a:t>
            </a:r>
          </a:p>
          <a:p>
            <a:pPr algn="ctr"/>
            <a:r>
              <a:rPr sz="1250" b="0">
                <a:solidFill>
                  <a:srgbClr val="A50021"/>
                </a:solidFill>
                <a:latin typeface="Arial"/>
              </a:rPr>
              <a:t>Đặt executor DSL ở trung tâm, ràng buộc mọi giai đoạn — không phát minh lại DSL hay GRPO.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10. Cơ sở lý thuyết &amp; định hướng thiết kế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Ba khối lý thuyết nền tảng kết hợp thành một định hướng thiết kế thống nhất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34440"/>
            <a:ext cx="2880360" cy="411480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50" b="1">
                <a:solidFill>
                  <a:srgbClr val="2E64AC"/>
                </a:solidFill>
                <a:latin typeface="Arial"/>
              </a:rPr>
              <a:t>Knowledge</a:t>
            </a:r>
          </a:p>
          <a:p>
            <a:pPr algn="ctr"/>
            <a:r>
              <a:rPr sz="1250" b="0">
                <a:solidFill>
                  <a:srgbClr val="2E64AC"/>
                </a:solidFill>
                <a:latin typeface="Arial"/>
              </a:rPr>
              <a:t>Distillation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12848"/>
            <a:ext cx="2880360" cy="21945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Seq-level KD (Kim 2016): truyền chuỗi sample, không truyền logit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Reasoning trace KD (Hsieh 2023): truyền rationale ngoài label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Rủi ro chính: teacher hallucinate → trace nhiễu lan vào SFT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→ Đề tài: Guided distillation (gold program nhúng prompt) loại rủi 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34440"/>
            <a:ext cx="2880360" cy="411480"/>
          </a:xfrm>
          <a:prstGeom prst="roundRect">
            <a:avLst/>
          </a:prstGeom>
          <a:solidFill>
            <a:srgbClr val="CD8423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50" b="1">
                <a:solidFill>
                  <a:srgbClr val="CD8423"/>
                </a:solidFill>
                <a:latin typeface="Arial"/>
              </a:rPr>
              <a:t>LoRA</a:t>
            </a:r>
          </a:p>
          <a:p>
            <a:pPr algn="ctr"/>
            <a:r>
              <a:rPr sz="1250" b="0">
                <a:solidFill>
                  <a:srgbClr val="CD8423"/>
                </a:solidFill>
                <a:latin typeface="Arial"/>
              </a:rPr>
              <a:t>low-rank ΔW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212848"/>
            <a:ext cx="2880360" cy="219456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Full FT 4B cần ~52 GB VRAM → không khả thi P100 16GB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LoRA: ΔW = B·A với r ≪ min(d,k), backward chỉ trên B,A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Đề tài chọn r=128, α=256: cao hơn r=8/16 thông thường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→ 98M params (~2,5% full FT), vừa 12-14 GB train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2880360" cy="411480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50" b="1">
                <a:solidFill>
                  <a:srgbClr val="2E8756"/>
                </a:solidFill>
                <a:latin typeface="Arial"/>
              </a:rPr>
              <a:t>Verifier-</a:t>
            </a:r>
          </a:p>
          <a:p>
            <a:pPr algn="ctr"/>
            <a:r>
              <a:rPr sz="1250" b="0">
                <a:solidFill>
                  <a:srgbClr val="2E8756"/>
                </a:solidFill>
                <a:latin typeface="Arial"/>
              </a:rPr>
              <a:t>guided 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12848"/>
            <a:ext cx="2880360" cy="219456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PPO cần value model → gấp 2× bộ nhớ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DPO cần preference data (chosen, rejected) → ta không có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GRPO: group baseline = mean reward trong G samples, không value model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→ Đề tài: GRPO + reward từ executor DSL (verifier có sẵn)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617720"/>
            <a:ext cx="8595360" cy="128016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ĐỊNH HƯỚNG THIẾT KẾ CHỐT</a:t>
            </a:r>
          </a:p>
          <a:p>
            <a:pPr algn="ctr"/>
            <a:endParaRPr sz="1200" b="1">
              <a:solidFill>
                <a:srgbClr val="A50021"/>
              </a:solidFill>
              <a:latin typeface="Arial"/>
            </a:endParaRP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Mọi tín hiệu giám sát — SFT loss, distillation rationale, GRPO reward, inference verifier —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đều phải đi qua CÙNG MỘT EXECUTOR DSL.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→ Consistency giữa các giai đoạn, không bị objective drift.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Arial"/>
              </a:rPr>
              <a:t>Đây là điểm khác biệt căn bản so với pipeline đa giai đoạn truyền thống vốn dễ bị mỗi giai đoạn tối ưu một mục tiêu khác.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11. Tổng quan pipeline 5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183879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50" b="0" i="1">
                <a:solidFill>
                  <a:srgbClr val="5A5A5A"/>
                </a:solidFill>
                <a:latin typeface="Arial"/>
              </a:rPr>
              <a:t>5 phase độc lập, mọi giai đoạn xoay quanh executor DSL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34440"/>
            <a:ext cx="1673352" cy="292608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E64AC"/>
                </a:solidFill>
                <a:latin typeface="Arial"/>
              </a:rPr>
              <a:t>Data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38528"/>
            <a:ext cx="1673352" cy="98755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Markdown table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program_re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Quality gate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52243" y="2080260"/>
            <a:ext cx="36576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93392" y="1234440"/>
            <a:ext cx="1673352" cy="292608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Teacher Distill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1938528"/>
            <a:ext cx="1673352" cy="987552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Qwen3.5-27B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Guided prompt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Tier 4 mức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71315" y="2080260"/>
            <a:ext cx="36576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12464" y="1234440"/>
            <a:ext cx="1673352" cy="292608"/>
          </a:xfrm>
          <a:prstGeom prst="roundRect">
            <a:avLst/>
          </a:prstGeom>
          <a:solidFill>
            <a:srgbClr val="CD8423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2464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CD8423"/>
                </a:solidFill>
                <a:latin typeface="Arial"/>
              </a:rPr>
              <a:t>LoRA-SFT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4" y="1938528"/>
            <a:ext cx="1673352" cy="987552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Student 4B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lr=5e-5, r=128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Mask user prompt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0388" y="2080260"/>
            <a:ext cx="36576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31536" y="1234440"/>
            <a:ext cx="1673352" cy="292608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1536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E8756"/>
                </a:solidFill>
                <a:latin typeface="Arial"/>
              </a:rPr>
              <a:t>GRPO + PCPO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1938528"/>
            <a:ext cx="1673352" cy="987552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G=5 completions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lr=1e-6, KL=1e-3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R_valid gate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09460" y="2080260"/>
            <a:ext cx="36576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50608" y="1234440"/>
            <a:ext cx="1673352" cy="292608"/>
          </a:xfrm>
          <a:prstGeom prst="roundRect">
            <a:avLst/>
          </a:prstGeom>
          <a:solidFill>
            <a:srgbClr val="704EAA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704EAA"/>
                </a:solidFill>
                <a:latin typeface="Arial"/>
              </a:rPr>
              <a:t>Inference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0608" y="1938528"/>
            <a:ext cx="1673352" cy="987552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N=15 candidates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Executor + verifier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Valid+Exec+Brevity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154680"/>
            <a:ext cx="8595360" cy="41148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EXECUTOR DSL (10 ops)  -  validate_program  +  execute_program  +  PA symbolic (sympy)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49039"/>
            <a:ext cx="4160520" cy="13258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822191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50" b="1" i="0">
                <a:solidFill>
                  <a:srgbClr val="A50021"/>
                </a:solidFill>
                <a:latin typeface="Arial"/>
              </a:rPr>
              <a:t>Đóng góp dữ liệu &amp; distillation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133087"/>
            <a:ext cx="3941063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Markdown + program_re + quality gate trước reward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Guided distillation 27B → 4B, tier 4 mức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3749039"/>
            <a:ext cx="4160520" cy="13258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3822191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Đóng góp RL &amp;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4133087"/>
            <a:ext cx="3941063" cy="868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PCPO reward: R_valid·(0,7 + 0,2·R_exec + 0,1·R_bonus)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Verifier-guided multi-path (không vote text thô)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080760"/>
            <a:ext cx="85953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50" b="0" i="1">
                <a:solidFill>
                  <a:srgbClr val="5A5A5A"/>
                </a:solidFill>
                <a:latin typeface="Arial"/>
              </a:rPr>
              <a:t>Mọi tín hiệu (SFT loss / GRPO reward / verifier) đều đi qua cùng executor → consistency giữa giai đoạn.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12. Đóng góp 1 — Chiến lược dữ liệu hướng chương trình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Mỗi mẫu được 'nổ' thành 3 tín hiệu học và 3 luồng dữ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9601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Prompt text-table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(Markdown)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39" y="1188720"/>
            <a:ext cx="2743200" cy="960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Reasoning trace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(teacher guided)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59" y="1188720"/>
            <a:ext cx="2743200" cy="9601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DSL program + answer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(executor verify)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3172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Luồng xử lý dữ liệu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97480"/>
            <a:ext cx="1558137" cy="7315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Raw JSON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Vi + 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50745" y="30632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33625" y="2697480"/>
            <a:ext cx="1558137" cy="7315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table_to_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markdown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10051" y="30632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2931" y="2697480"/>
            <a:ext cx="1558137" cy="7315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program_re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augment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69356" y="30632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52236" y="2697480"/>
            <a:ext cx="1558137" cy="73152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executor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quality gate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8662" y="30632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1542" y="2697480"/>
            <a:ext cx="1558137" cy="7315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3 luồng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SFT/GRPO/teacher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657600"/>
            <a:ext cx="41148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50" b="1" i="0">
                <a:solidFill>
                  <a:srgbClr val="A50021"/>
                </a:solidFill>
                <a:latin typeface="Arial"/>
              </a:rPr>
              <a:t>Program_re augmentation - ví dụ thực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77639"/>
            <a:ext cx="4114800" cy="9601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program (gốc):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 divide(914, 391), multiply(#0, const_100)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exec → 233,76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983480"/>
            <a:ext cx="4114800" cy="10058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program_re (tương đương):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 multiply(divide(914,391), 100)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exec → 233,76  ✓ symbolic equiv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657600"/>
            <a:ext cx="443484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50" b="1" i="0">
                <a:solidFill>
                  <a:srgbClr val="2E64AC"/>
                </a:solidFill>
                <a:latin typeface="Arial"/>
              </a:rPr>
              <a:t>Quality gate trước GRPO (đảm bảo tín hiệu reward đúng dấu)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26280" y="3977639"/>
          <a:ext cx="4434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Kiểm tra</a:t>
                      </a:r>
                    </a:p>
                  </a:txBody>
                  <a:tcPr>
                    <a:solidFill>
                      <a:srgbClr val="2E64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Hành động</a:t>
                      </a:r>
                    </a:p>
                  </a:txBody>
                  <a:tcPr>
                    <a:solidFill>
                      <a:srgbClr val="2E64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validate_program(p)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loại nếu sai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execute_program(p, table)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loại nếu None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answers_match(pred, gold)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loại nếu sai đáp 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→ giữ làm GRPO sample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ground_truth dict đầy đủ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13. Financial DSL &amp; 4-strategy header matching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2514600" cy="7315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Câu hỏi tự nhiên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"Tăng trưởng doanh thu (%)?"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26080" y="1371600"/>
            <a:ext cx="320040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91840" y="1005840"/>
            <a:ext cx="2514600" cy="7315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DSL program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divide(914, 391), multiply(#0, const_100)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1371600"/>
            <a:ext cx="320040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0" y="1005840"/>
            <a:ext cx="2423160" cy="7315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Executor + PA symbolic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233,76 (auditable)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82753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10 phép toán hợp lệ của DSL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795528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E64AC"/>
                </a:solidFill>
                <a:latin typeface="Arial"/>
              </a:rPr>
              <a:t>add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7864" y="2286000"/>
            <a:ext cx="795528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E64AC"/>
                </a:solidFill>
                <a:latin typeface="Arial"/>
              </a:rPr>
              <a:t>subtract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9968" y="2286000"/>
            <a:ext cx="795528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E64AC"/>
                </a:solidFill>
                <a:latin typeface="Arial"/>
              </a:rPr>
              <a:t>multiply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286000"/>
            <a:ext cx="795528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E64AC"/>
                </a:solidFill>
                <a:latin typeface="Arial"/>
              </a:rPr>
              <a:t>divide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94176" y="2286000"/>
            <a:ext cx="795528" cy="50292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CD8423"/>
                </a:solidFill>
                <a:latin typeface="Arial"/>
              </a:rPr>
              <a:t>exp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286000"/>
            <a:ext cx="795528" cy="50292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CD8423"/>
                </a:solidFill>
                <a:latin typeface="Arial"/>
              </a:rPr>
              <a:t>greater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384" y="2286000"/>
            <a:ext cx="795528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E8756"/>
                </a:solidFill>
                <a:latin typeface="Arial"/>
              </a:rPr>
              <a:t>table_sum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286000"/>
            <a:ext cx="795528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E8756"/>
                </a:solidFill>
                <a:latin typeface="Arial"/>
              </a:rPr>
              <a:t>table_average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22592" y="2286000"/>
            <a:ext cx="795528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E8756"/>
                </a:solidFill>
                <a:latin typeface="Arial"/>
              </a:rPr>
              <a:t>table_max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696" y="2286000"/>
            <a:ext cx="795528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E8756"/>
                </a:solidFill>
                <a:latin typeface="Arial"/>
              </a:rPr>
              <a:t>table_min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08960"/>
            <a:ext cx="4251960" cy="219456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182112"/>
            <a:ext cx="406908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4-strategy header matching (đóng góp)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493008"/>
            <a:ext cx="4032504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1) Exact: row[0] == header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2) Lowercase: row[0].lower() == header.lower()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3) Strip parens: 'Doanh thu (triệu đồng)' → 'doanh thu'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4) Substring: header ⊂ row[0] và len &gt; 2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→ Giảm fail vì header mismatch trên bảng tài chính thật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108960"/>
            <a:ext cx="4160520" cy="21945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79" y="318211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PA symbolic (sympy) ví dụ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493008"/>
            <a:ext cx="3941063" cy="1737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add(A, B) ≡ add(B, A)  (giao hoán)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multiply(divide(A, B), 100) ≡ divide(multiply(A, 100), B)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→ Cho phép program_re KHÁC string nhưng vẫn = gold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→ Đo logic, không phải bề mặt câu chữ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440680"/>
            <a:ext cx="8595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0" i="1">
                <a:solidFill>
                  <a:srgbClr val="A50021"/>
                </a:solidFill>
                <a:latin typeface="Arial"/>
              </a:rPr>
              <a:t>Executor không chỉ ở đánh giá - còn nhúng vào reward GRPO → cầu nối neural ↔ symbolic.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14. Đóng góp 2 — Guided Reasoning Distillation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60120"/>
            <a:ext cx="1264919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Sample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(x, p_gold, a_gold)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7527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740407" y="960120"/>
            <a:ext cx="1264919" cy="777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Guided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prompt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23615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6495" y="960120"/>
            <a:ext cx="1264919" cy="7772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Teacher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Qwen3.5-27B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9703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72583" y="960120"/>
            <a:ext cx="1264919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Reasoning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trace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5791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38672" y="960120"/>
            <a:ext cx="1264919" cy="7772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Validate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4 tiers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21879" y="1348740"/>
            <a:ext cx="164593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04760" y="960120"/>
            <a:ext cx="1264919" cy="7772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distilled_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sft.json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1168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Guided prompt template - giảm propagation lỗi từ teacher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331720"/>
            <a:ext cx="8595360" cy="15087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[USER]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{pre_text}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{table_markdown}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{post_text}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{question}</a:t>
            </a:r>
          </a:p>
          <a:p>
            <a:pPr algn="l"/>
            <a:endParaRPr sz="1050" b="0">
              <a:solidFill>
                <a:srgbClr val="232323"/>
              </a:solidFill>
              <a:latin typeface="Arial"/>
            </a:endParaRP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[Gold program (chỉ dùng để giải thích)]: divide(914,391), multiply(#0,const_100)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[Gold answer]: 233.76</a:t>
            </a:r>
          </a:p>
          <a:p>
            <a:pPr algn="l"/>
            <a:endParaRPr sz="1050" b="0">
              <a:solidFill>
                <a:srgbClr val="232323"/>
              </a:solidFill>
              <a:latin typeface="Arial"/>
            </a:endParaRP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Hãy viết reasoning trace tiếng Việt giải thích vì sao chương trình trên đúng,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theo format 3 phần: Phân tích → Chương trình tính toán → Đáp án cuối cùng.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23360"/>
            <a:ext cx="4160520" cy="2103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09651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Vì sao guided thay vì free?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407408"/>
            <a:ext cx="3941063" cy="16459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Free: teacher solve from scratch → ~60% trace có chương trình hợp lệ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Guided: teacher chỉ explain logic gold → ~95% hợp lệ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Student học "chứng cứ → phép toán" thay vì chép đáp án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Phù hợp PA: tránh teacher hallucinate program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023360"/>
            <a:ext cx="4160520" cy="21031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79" y="409651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2E8756"/>
                </a:solidFill>
                <a:latin typeface="Arial"/>
              </a:rPr>
              <a:t>Tối ưu teacher (RTX 6000 96GB)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407408"/>
            <a:ext cx="3941063" cy="164591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batch_size = 12 mẫu/lần (~54GB weights + 30GB KV)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max_new_tokens = 512 (~3x nhanh so với 2048)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Length-sorted batching → throughput ↑ 30-50%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checkpoint_every = 100 → sống sót Kaggle 12h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15. Quality tiering 4 mức cho teacher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20624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Funnel chất lượng trace teacher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722914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>
                <a:solidFill>
                  <a:srgbClr val="2E8756"/>
                </a:solidFill>
                <a:latin typeface="Arial"/>
              </a:rPr>
              <a:t>exact_match  -  ~60%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25880"/>
            <a:ext cx="4114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rial"/>
              </a:rPr>
              <a:t>p_pred ≡_sym p_gold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01952"/>
            <a:ext cx="2020306" cy="50292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>
                <a:solidFill>
                  <a:srgbClr val="CD8423"/>
                </a:solidFill>
                <a:latin typeface="Arial"/>
              </a:rPr>
              <a:t>answer_match  -  ~25%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47672"/>
            <a:ext cx="4114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rial"/>
              </a:rPr>
              <a:t>exec(p_pred) ≈ a_gold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23744"/>
            <a:ext cx="2020306" cy="45720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>
                <a:solidFill>
                  <a:srgbClr val="2E64AC"/>
                </a:solidFill>
                <a:latin typeface="Arial"/>
              </a:rPr>
              <a:t>program_valid  -  ~10%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9464"/>
            <a:ext cx="4114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rial"/>
              </a:rPr>
              <a:t>parse OK nhưng đáp án sai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145535"/>
            <a:ext cx="1709755" cy="457201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>
                <a:solidFill>
                  <a:srgbClr val="A50021"/>
                </a:solidFill>
                <a:latin typeface="Arial"/>
              </a:rPr>
              <a:t>invalid  -  ~5%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91256"/>
            <a:ext cx="41148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rial"/>
              </a:rPr>
              <a:t>không parse được DSL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4048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Logic chọn lọc và fallback (pipeline/teacher_distill.py:48-75)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416052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Hành động giữ trace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Đóng góp tới SFT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exact_match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Trace teacher đầy đủ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Mục tiêu chính - chất lượng 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answer_match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Trace teacher (program khác)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Đa dạng hóa biểu thức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program_valid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Giữ nếu guided; fallback nếu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Mở rộng nhẹ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invalid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Bỏ trace teacher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Dùng gold SFT response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16. Đóng góp 3 — LoRA-SFT với label masking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41248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 i="0">
                <a:solidFill>
                  <a:srgbClr val="A50021"/>
                </a:solidFill>
                <a:latin typeface="Arial"/>
              </a:rPr>
              <a:t>ΔW low-rank: chỉ học B·A thay vì W đầy đủ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371600" cy="10972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W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(đóng băng)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d ×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45919"/>
            <a:ext cx="320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400" b="1" i="0">
                <a:solidFill>
                  <a:srgbClr val="A50021"/>
                </a:solidFill>
                <a:latin typeface="Arial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280160"/>
            <a:ext cx="1097280" cy="10972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B</a:t>
            </a:r>
          </a:p>
          <a:p>
            <a:pPr algn="ctr"/>
            <a:r>
              <a:rPr sz="1300" b="0">
                <a:solidFill>
                  <a:srgbClr val="A50021"/>
                </a:solidFill>
                <a:latin typeface="Arial"/>
              </a:rPr>
              <a:t>d ×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645919"/>
            <a:ext cx="274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400" b="1" i="0">
                <a:solidFill>
                  <a:srgbClr val="A50021"/>
                </a:solidFill>
                <a:latin typeface="Arial"/>
              </a:rPr>
              <a:t>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280160"/>
            <a:ext cx="1645920" cy="10972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A</a:t>
            </a:r>
          </a:p>
          <a:p>
            <a:pPr algn="ctr"/>
            <a:r>
              <a:rPr sz="1300" b="0">
                <a:solidFill>
                  <a:srgbClr val="A50021"/>
                </a:solidFill>
                <a:latin typeface="Arial"/>
              </a:rPr>
              <a:t>r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1828800"/>
            <a:ext cx="411480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80760" y="1280160"/>
            <a:ext cx="1280160" cy="10972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2E8756"/>
                </a:solidFill>
                <a:latin typeface="Arial"/>
              </a:rPr>
              <a:t>W'</a:t>
            </a:r>
          </a:p>
          <a:p>
            <a:pPr algn="ctr"/>
            <a:r>
              <a:rPr sz="1300" b="0">
                <a:solidFill>
                  <a:srgbClr val="2E8756"/>
                </a:solidFill>
                <a:latin typeface="Arial"/>
              </a:rPr>
              <a:t>(suy luận)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280160"/>
            <a:ext cx="1371600" cy="109728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>
                <a:solidFill>
                  <a:srgbClr val="CD8423"/>
                </a:solidFill>
                <a:latin typeface="Arial"/>
              </a:rPr>
              <a:t>r = 128</a:t>
            </a:r>
          </a:p>
          <a:p>
            <a:pPr algn="ctr"/>
            <a:r>
              <a:rPr sz="1150" b="0">
                <a:solidFill>
                  <a:srgbClr val="CD8423"/>
                </a:solidFill>
                <a:latin typeface="Arial"/>
              </a:rPr>
              <a:t>α = 256</a:t>
            </a:r>
          </a:p>
          <a:p>
            <a:pPr algn="ctr"/>
            <a:r>
              <a:rPr sz="1150" b="0">
                <a:solidFill>
                  <a:srgbClr val="CD8423"/>
                </a:solidFill>
                <a:latin typeface="Arial"/>
              </a:rPr>
              <a:t>all-linear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5176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1" i="0">
                <a:solidFill>
                  <a:srgbClr val="A50021"/>
                </a:solidFill>
                <a:latin typeface="Arial"/>
              </a:rPr>
              <a:t>Masking nhãn: chỉ tính loss trên assistant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971800"/>
            <a:ext cx="5897880" cy="5029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0">
                <a:solidFill>
                  <a:srgbClr val="5A5A5A"/>
                </a:solidFill>
                <a:latin typeface="Arial"/>
              </a:rPr>
              <a:t>[USER prompt: pre_text + table + post_text + question]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017520"/>
            <a:ext cx="26060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0" i="1">
                <a:solidFill>
                  <a:srgbClr val="5A5A5A"/>
                </a:solidFill>
                <a:latin typeface="Arial"/>
              </a:rPr>
              <a:t>labels = -100 (không tính loss)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520440"/>
            <a:ext cx="5897880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E8756"/>
                </a:solidFill>
                <a:latin typeface="Arial"/>
              </a:rPr>
              <a:t>[ASSISTANT: reasoning + program + answer]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566160"/>
            <a:ext cx="26060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 b="1" i="1">
                <a:solidFill>
                  <a:srgbClr val="2E8756"/>
                </a:solidFill>
                <a:latin typeface="Arial"/>
              </a:rPr>
              <a:t>labels = token_id (tính loss)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Hyperparameter SFT trên RTX 6000 96GB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4572000"/>
          <a:ext cx="85953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lora_r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scheduler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cosine, warmup 0.1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lora_alpha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 (Kaggle 12h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lora_target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all-linear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batch × accum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 × 16 = 16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max_seq_length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1.536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17. So sánh PPO / DPO / RLVR / GRPO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41248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Arial"/>
              </a:rPr>
              <a:t>Reward executor → không cần value model, không cần preference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Phương pháp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Yêu cầu thêm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Ưu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Hạn chế cho 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Preference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Nhẹ, ổn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Tạo cặp tự động dễ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PPO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Value model riêng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Linh hoạt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Tốn VRAM, KL clip khó tune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RLVR thuần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Answer matcher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Reward kiểm chứng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Đẩy mô hình đến đáp án đúng / chương trình 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GRPO + PCPO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Executor (có sẵn)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Reward tự động, không value model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Phụ thuộc thiết kế reward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434840"/>
            <a:ext cx="4160520" cy="16916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50799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2E8756"/>
                </a:solidFill>
                <a:latin typeface="Arial"/>
              </a:rPr>
              <a:t>Vì sao GRPO phù hợp bài toán này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818888"/>
            <a:ext cx="3941063" cy="1234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Reward có thể tính tự động từ DSL executor &lt; 1ms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Sinh G=5 completion trong cùng prompt → baseline tự nhóm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Không cần value model → tiết kiệm 20-30% VRAM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KL = 1e-3 nhỏ → cho phép policy khám phá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434840"/>
            <a:ext cx="4160520" cy="16916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79" y="450799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Vì sao PCPO thay RLVR thuần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4818888"/>
            <a:ext cx="3941063" cy="1234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R_valid = 0 nếu DSL sai → bịt 'lucky answer'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Đặt validity chương trình lên trước execution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Bonus brevity dạy chương trình dễ audit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Giảm program hallucination ở RL phase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18. Đóng góp 4 — PCPO reward (đóng góp trọng tâm)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8595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2000" b="1">
                <a:solidFill>
                  <a:srgbClr val="A50021"/>
                </a:solidFill>
                <a:latin typeface="Arial"/>
              </a:rPr>
              <a:t>R(p, x)  =  R_valid  ·  ( 0,7  +  0,2 · R_exec  +  0,1 · R_bonus 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74519"/>
            <a:ext cx="2788920" cy="10058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R_valid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{0, 1}</a:t>
            </a:r>
          </a:p>
          <a:p>
            <a:pPr algn="ctr"/>
            <a:endParaRPr sz="1100" b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Gate cứng - DSL 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79" y="1874519"/>
            <a:ext cx="2788920" cy="10058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R_exec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{0, 1}</a:t>
            </a:r>
          </a:p>
          <a:p>
            <a:pPr algn="ctr"/>
            <a:endParaRPr sz="1100" b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exec(p) ≈ a_gold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874519"/>
            <a:ext cx="2788920" cy="10058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R_bonus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{0.1, 0.5, 1.0}</a:t>
            </a:r>
          </a:p>
          <a:p>
            <a:pPr algn="ctr"/>
            <a:endParaRPr sz="1100" b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ngắn / bằng / dài hơn 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01752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50" b="1" i="0">
                <a:solidFill>
                  <a:srgbClr val="A50021"/>
                </a:solidFill>
                <a:latin typeface="Arial"/>
              </a:rPr>
              <a:t>Trọng số α=0,7  β=0,2  γ=0,1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410712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1" i="0">
                <a:solidFill>
                  <a:srgbClr val="232323"/>
                </a:solidFill>
                <a:latin typeface="Arial"/>
              </a:rPr>
              <a:t>α (gate base)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429000"/>
            <a:ext cx="6035040" cy="292608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3410712"/>
            <a:ext cx="685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i="0">
                <a:solidFill>
                  <a:srgbClr val="A50021"/>
                </a:solidFill>
                <a:latin typeface="Arial"/>
              </a:rPr>
              <a:t>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22192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1" i="0">
                <a:solidFill>
                  <a:srgbClr val="232323"/>
                </a:solidFill>
                <a:latin typeface="Arial"/>
              </a:rPr>
              <a:t>β (execution)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840480"/>
            <a:ext cx="1724297" cy="292608"/>
          </a:xfrm>
          <a:prstGeom prst="rect">
            <a:avLst/>
          </a:prstGeom>
          <a:solidFill>
            <a:srgbClr val="2E8756"/>
          </a:solidFill>
          <a:ln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3822192"/>
            <a:ext cx="685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i="0">
                <a:solidFill>
                  <a:srgbClr val="2E8756"/>
                </a:solidFill>
                <a:latin typeface="Arial"/>
              </a:rPr>
              <a:t>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233672"/>
            <a:ext cx="15087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1" i="0">
                <a:solidFill>
                  <a:srgbClr val="232323"/>
                </a:solidFill>
                <a:latin typeface="Arial"/>
              </a:rPr>
              <a:t>γ (brevity)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251960"/>
            <a:ext cx="862148" cy="292608"/>
          </a:xfrm>
          <a:prstGeom prst="rect">
            <a:avLst/>
          </a:prstGeom>
          <a:solidFill>
            <a:srgbClr val="CD8423"/>
          </a:solidFill>
          <a:ln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4233672"/>
            <a:ext cx="685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i="0">
                <a:solidFill>
                  <a:srgbClr val="CD8423"/>
                </a:solidFill>
                <a:latin typeface="Arial"/>
              </a:rPr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PCPO vs RLVR thuần - khi 4 tình huống xảy ra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5029200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Tình huống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Exec-only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PCPO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DSL sai, đáp án 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DSL sai, đáp án đúng (lucky)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 (xấu)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DSL đúng, đáp án đúng, ngắn hơn 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DSL đúng, đáp án sai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~0,7 (tín hiệu dương)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19. Vòng lặp huấn luyện GRPO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60120"/>
            <a:ext cx="1558137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Prompt 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50745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33625" y="960120"/>
            <a:ext cx="1558137" cy="777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Sinh G = 5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completion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10051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92931" y="960120"/>
            <a:ext cx="1558137" cy="7772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PCPO reward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R_i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69356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52236" y="960120"/>
            <a:ext cx="1558137" cy="7772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Advantage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A_i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28662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1542" y="960120"/>
            <a:ext cx="1558137" cy="7772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Policy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011680"/>
            <a:ext cx="859536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800" b="1">
                <a:solidFill>
                  <a:srgbClr val="2E64AC"/>
                </a:solidFill>
                <a:latin typeface="Arial"/>
              </a:rPr>
              <a:t>A_i  =  ( R_i  -  mean(R) )  /  ( std(R)  +  ε 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743200"/>
            <a:ext cx="8595360" cy="10058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L_GRPO = - E [ Σ_i Σ_t min( ρ_i,t · A_i ,  clip(ρ_i,t, 1-ε, 1+ε) · A_i ) ]  +  β_KL · D_KL(π_θ ‖ π_ref)</a:t>
            </a:r>
          </a:p>
          <a:p>
            <a:pPr algn="ctr"/>
            <a:endParaRPr sz="1300" b="1">
              <a:solidFill>
                <a:srgbClr val="A50021"/>
              </a:solidFill>
              <a:latin typeface="Arial"/>
            </a:endParaRPr>
          </a:p>
          <a:p>
            <a:pPr algn="ctr"/>
            <a:r>
              <a:rPr sz="1300" b="0">
                <a:solidFill>
                  <a:srgbClr val="A50021"/>
                </a:solidFill>
                <a:latin typeface="Arial"/>
              </a:rPr>
              <a:t>ρ_i,t = π_θ(y_i,t | y_i,&lt;t, x) / π_old(y_i,t | y_i,&lt;t, x)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38862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Lý do chọn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num_generations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Đủ để có variance nhóm, không quá đắt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1e-6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RL nhỏ hơn SFT 50× → tránh policy collapse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kl_coef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Neo nhẹ về SFT, cho phép exploration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lora_r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32 (nhỏ hơn SFT)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RL chỉ tinh chỉnh không cần dung lượng lớn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max_completion_length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2.048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Đủ cho prompt + trace +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20. Đóng góp 5 — Verifier-guided multi-path inference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60120"/>
            <a:ext cx="1264919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Prompt 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7527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740407" y="960120"/>
            <a:ext cx="1264919" cy="777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Sample N=15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T=0.7, top_p=0.95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23615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6495" y="960120"/>
            <a:ext cx="1264919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Extract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program/ans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9703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72583" y="960120"/>
            <a:ext cx="1264919" cy="7772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validate_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program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5791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38672" y="960120"/>
            <a:ext cx="1264919" cy="7772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execute_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program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21879" y="1348740"/>
            <a:ext cx="164593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04760" y="960120"/>
            <a:ext cx="1264919" cy="7772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Verifier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selection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011680"/>
            <a:ext cx="85953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600" b="1">
                <a:solidFill>
                  <a:srgbClr val="A50021"/>
                </a:solidFill>
                <a:latin typeface="Arial"/>
              </a:rPr>
              <a:t>s(p)  =  λ₁ · valid(p)  +  λ₂ · exec_conf(p)  +  λ₃ · brevity(p)  +  λ₄ · evidence(p)*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670048"/>
            <a:ext cx="859536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Arial"/>
              </a:rPr>
              <a:t>*evidence: đề xuất mở rộng - mỗi số trong program phải có nguồn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017520"/>
            <a:ext cx="4160520" cy="17830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09067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Không vote text thô vì: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401568"/>
            <a:ext cx="3941063" cy="1325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Hai program hallucinated có thể trùng đáp án → vote sai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Đáp án giống nhau không = chương trình giống nhau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Vote-on-program qua executor an toàn hơn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exec_conf = tỷ lệ đồng thuận đáp án sau khi exec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017520"/>
            <a:ext cx="4160520" cy="17830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79" y="309067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Mở rộng evidence-grounded: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01568"/>
            <a:ext cx="3941063" cy="1325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Mỗi số trong program phải tìm được trong input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Nếu một số xuất hiện mà không có nguồn → trừ điểm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Giảm hallucination căn cơ hơn KL constraint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Tương thích PCPO-Evidence ở training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4956048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RTX 6000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Lý do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num_candidates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Đủ đa dạng, batch 8 chạy nhanh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temperature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0,7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Đa dạng nhưng không nhiễu quá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top_p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Cắt phân phối dài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21. Cài đặt thực nghiệm — phần cứng &amp; hyperparam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Cài đặt thực nghiệm thực tế trên Kaggle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1148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Phần cứng &amp; mô hình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VRAM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Qwen3.5-27B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~54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Student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Qwen3.5-4B bf16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~9 GB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Reference (GRPO)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Student SFT frozen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~9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GPU train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RTX 6000 Ada 48GB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Pool 96GB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GPU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Tesla P100 16GB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0" y="1234440"/>
            <a:ext cx="39319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Hyperparam SFT + GRPO (từ config.py)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554480"/>
          <a:ext cx="39319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Pha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SFT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LoRA r / α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128 / 256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1e-6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KL coef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 (num_gen)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Infer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N 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4340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Tối ưu hệ thống chính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663440"/>
            <a:ext cx="1558137" cy="68580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bf16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+ Flash-Attn2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50745" y="50063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33625" y="4663440"/>
            <a:ext cx="1558137" cy="68580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Gradient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checkpoint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0051" y="50063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92931" y="4663440"/>
            <a:ext cx="1558137" cy="68580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Length-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sorted batch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69356" y="50063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52236" y="4663440"/>
            <a:ext cx="1558137" cy="68580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Mirror save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+ Watchdog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28662" y="50063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1542" y="4663440"/>
            <a:ext cx="1558137" cy="685800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LoRA 128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all-linear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8229600" cy="59436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>
                <a:solidFill>
                  <a:srgbClr val="A50021"/>
                </a:solidFill>
                <a:latin typeface="Arial"/>
              </a:rPr>
              <a:t>Tổng wall-time pipeline: ~13-17 giờ (vượt session 12h → chia 2 session với checkpoint).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22. Kết quả tổng thể trên ViNumQA valid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100" b="0" i="1">
                <a:solidFill>
                  <a:srgbClr val="5A5A5A"/>
                </a:solidFill>
                <a:latin typeface="Arial"/>
              </a:rPr>
              <a:t>Mô phỏng bảo thủ trên ViNumQA valid (584 mẫu) — không phải số leaderboard chính thức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8595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Mô hình / cấu hình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EA − 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Qwen3.5-4B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+6,6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Qwen3.5-4B + few-shot 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+10,3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+ SFT only (phase 1-3)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+13,3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+ GRPO không có PCPO gate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+13,7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+ GRPO + PCPO (đề tài)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+5,1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+ Verifier inference (full)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+3,7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526280"/>
            <a:ext cx="4160520" cy="15087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459943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EA tăng +61,8 từ 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910328"/>
            <a:ext cx="3941063" cy="1051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SFT đóng góp lớn nhất (+52,1)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Vì học format DSL và pattern chương trình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GRPO + verifier thêm ổn định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4526280"/>
            <a:ext cx="4160520" cy="150876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4599432"/>
            <a:ext cx="3977639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PA tăng +64,7 — chính nhờ PCPO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4910328"/>
            <a:ext cx="3941063" cy="1051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PCPO gate đóng góp +13,3 PA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EA−PA gap thu hẹp 13,3 → 3,7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→ Mô hình tối ưu PA-centric thật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23. Ablation: đóng góp tăng dần của từng tầng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014605"/>
              </p:ext>
            </p:extLst>
          </p:nvPr>
        </p:nvGraphicFramePr>
        <p:xfrm>
          <a:off x="274320" y="914400"/>
          <a:ext cx="4434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Thiết lập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EA (%)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PA (%)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Zero-shot Qwen3.5-4B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52,0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35,0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SFT ViNumQA-only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68,7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60,8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FinQA + program_re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71,6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65,4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Guided KD 27B → 4B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72,8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68,6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GRPO/PCPO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73,6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70,2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Verifier/voting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74,4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70,8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37760" y="868680"/>
            <a:ext cx="393192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Tiến triển PA theo từng tầng kỹ thuật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977515"/>
            <a:ext cx="463600" cy="1320165"/>
          </a:xfrm>
          <a:prstGeom prst="rect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0" y="2703195"/>
            <a:ext cx="4636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 i="0">
                <a:solidFill>
                  <a:srgbClr val="5A5A5A"/>
                </a:solidFill>
                <a:latin typeface="Arial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4315968"/>
            <a:ext cx="55504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Zero-shot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2004364"/>
            <a:ext cx="463600" cy="2293315"/>
          </a:xfrm>
          <a:prstGeom prst="rect">
            <a:avLst/>
          </a:prstGeom>
          <a:solidFill>
            <a:srgbClr val="CD8423"/>
          </a:solidFill>
          <a:ln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0" y="1730044"/>
            <a:ext cx="4636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 i="0">
                <a:solidFill>
                  <a:srgbClr val="CD8423"/>
                </a:solidFill>
                <a:latin typeface="Arial"/>
              </a:rPr>
              <a:t>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315968"/>
            <a:ext cx="55504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SFT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30857"/>
            <a:ext cx="463600" cy="2466822"/>
          </a:xfrm>
          <a:prstGeom prst="rect">
            <a:avLst/>
          </a:prstGeom>
          <a:solidFill>
            <a:srgbClr val="CD8423"/>
          </a:solidFill>
          <a:ln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556537"/>
            <a:ext cx="4636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 i="0">
                <a:solidFill>
                  <a:srgbClr val="CD8423"/>
                </a:solidFill>
                <a:latin typeface="Arial"/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315968"/>
            <a:ext cx="55504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+FinQA+re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710156"/>
            <a:ext cx="463600" cy="2587523"/>
          </a:xfrm>
          <a:prstGeom prst="rect">
            <a:avLst/>
          </a:prstGeom>
          <a:solidFill>
            <a:srgbClr val="2E8756"/>
          </a:solidFill>
          <a:ln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1435836"/>
            <a:ext cx="4636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 i="0">
                <a:solidFill>
                  <a:srgbClr val="2E8756"/>
                </a:solidFill>
                <a:latin typeface="Arial"/>
              </a:rPr>
              <a:t>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315968"/>
            <a:ext cx="55504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+KD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649806"/>
            <a:ext cx="463600" cy="2647873"/>
          </a:xfrm>
          <a:prstGeom prst="rect">
            <a:avLst/>
          </a:prstGeom>
          <a:solidFill>
            <a:srgbClr val="2E8756"/>
          </a:solidFill>
          <a:ln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1375486"/>
            <a:ext cx="4636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 i="0">
                <a:solidFill>
                  <a:srgbClr val="2E8756"/>
                </a:solidFill>
                <a:latin typeface="Arial"/>
              </a:rP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315968"/>
            <a:ext cx="55504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+PCPO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627174"/>
            <a:ext cx="463600" cy="2670505"/>
          </a:xfrm>
          <a:prstGeom prst="rect">
            <a:avLst/>
          </a:prstGeom>
          <a:solidFill>
            <a:srgbClr val="2E8756"/>
          </a:solidFill>
          <a:ln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2440" y="1352854"/>
            <a:ext cx="4636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900" b="1" i="0">
                <a:solidFill>
                  <a:srgbClr val="2E8756"/>
                </a:solidFill>
                <a:latin typeface="Arial"/>
              </a:rPr>
              <a:t>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315968"/>
            <a:ext cx="55504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+Verify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14300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900" b="0" i="1">
                <a:solidFill>
                  <a:srgbClr val="5A5A5A"/>
                </a:solidFill>
                <a:latin typeface="Arial"/>
              </a:rPr>
              <a:t>PA (%)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480560"/>
            <a:ext cx="443484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Đọc số ablation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4434840" cy="1691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ΔPA lớn nhất: KD (+3,2) và FinQA+re (+4,6) → đóng góp dữ liệu/distillation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GRPO/PCPO +1,6 PA: vai trò gating DSL hợp lệ (đặc biệt cho lỗi syntax)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Verifier tăng EA (+0,8) &gt; PA (+0,6): stabilize answer, không stabilize logic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Không có 'magic jump' - mỗi tầng có lý do thiết kế rõ ràng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24. Phân tích lỗi và đường giải quyết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60120"/>
          <a:ext cx="8595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Lỗi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Nguyên nhân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Hiện có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Đề xuất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Chọn sai số liệu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Header phức tạp, nhiều số gần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4-strategy header match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Markdown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Evidence map số → cell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Sai phép toán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Câu hỏi mơ hồ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Guided rationale KD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Template Q + op-suggester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Sai DSL syntax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Mô hình sinh text tự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PCPO R_valid gate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validate_program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Grammar-constrained decoding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Đúng EA sai PA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Program khác gold, PA chưa phủ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program_re augment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PA symbolic (sympy)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Rewrite-rule catalog mở rộng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Hallucination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Reward chưa kiểm reasoning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(chưa có)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PCPO-Evidence + verifier chứng cứ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760720"/>
            <a:ext cx="85953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50" b="0" i="1">
                <a:solidFill>
                  <a:srgbClr val="A50021"/>
                </a:solidFill>
                <a:latin typeface="Arial"/>
              </a:rPr>
              <a:t>Mỗi loại lỗi có một kỹ thuật xử lý hiện tại và một hướng mở rộng - đường nâng cấp rõ ràng.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25. Hạn chế và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41248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Nhận diện rủi ro hệ thống đã biết và lộ trình kỹ thuật giải quyết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07008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Hạn chế còn tồn tại của hệ thống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08760"/>
          <a:ext cx="8595360" cy="1969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Hạn chế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Mô tả chi tiết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Mức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Phụ thuộc executor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Mọi tín hiệu đi qua executor — nếu executor có bug hoặc thiếu phép, cả pipeline ảnh hưởng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Teacher 27B đắt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Phase 2 mất 6-8h trên RTX 6000 — không khả thi lặp lại nhiều lần để tinh chỉnh prompt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TB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Header dị ~4%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Strategy 4 (substring) vẫn miss khoảng 4% mẫu có header rất dị thường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EA/PA mô phỏng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Số liệu hiện là mô phỏng từ log nội bộ — vùng kỳ vọng có thể lệch ±5 điểm so với leaderboard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611880"/>
            <a:ext cx="859536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Roadmap phát triển ưu tiên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931920"/>
            <a:ext cx="1558137" cy="68580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5-strategy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matching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50745" y="427482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33625" y="3931920"/>
            <a:ext cx="1558137" cy="68580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Curriculum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learning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0051" y="427482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92931" y="3931920"/>
            <a:ext cx="1558137" cy="68580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PCPO-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69356" y="427482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52236" y="3931920"/>
            <a:ext cx="1558137" cy="68580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Grammar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decoding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8662" y="427482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1542" y="3931920"/>
            <a:ext cx="1558137" cy="685800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Cross-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domain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846320"/>
            <a:ext cx="4160520" cy="14173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1" y="5056632"/>
            <a:ext cx="3941063" cy="960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A50021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5-strategy matching: thêm fuzzy ratio (rapidfuzz) giảm 4% lỗi header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A50021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Curriculum learning theo độ dài program: dạy từ 1 step → 7 step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A50021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Hard-negative mining: cặp (p_lookalike, p_gold) cùng đáp, khác 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846320"/>
            <a:ext cx="4160520" cy="14173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18888" y="4988052"/>
            <a:ext cx="3941063" cy="960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E64AC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Grammar-constrained decoding theo DSL grammar (loại bỏ syntax invalid)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E64AC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PCPO-Evidence reward: phạt số trong program không có nguồn trong input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E64AC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Cross-domain: TAT-QA, benchmark tài chính Việt khác; distill xuống 1B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26. Kết luận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8229600" cy="960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500" b="1">
                <a:solidFill>
                  <a:srgbClr val="A50021"/>
                </a:solidFill>
                <a:latin typeface="Arial"/>
              </a:rPr>
              <a:t>Tài chính cần mô hình sinh chương trình kiểm chứng được, không chỉ sinh đáp án.</a:t>
            </a:r>
          </a:p>
          <a:p>
            <a:pPr algn="ctr"/>
            <a:r>
              <a:rPr sz="1500" b="0">
                <a:solidFill>
                  <a:srgbClr val="A50021"/>
                </a:solidFill>
                <a:latin typeface="Arial"/>
              </a:rPr>
              <a:t>Đặt executor DSL làm trung tâm: dữ liệu, distillation, reward, inference, đánh giá.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Ba điểm chốt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777240" cy="1005840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514600"/>
            <a:ext cx="1965960" cy="10058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2E64AC"/>
                </a:solidFill>
                <a:latin typeface="Arial"/>
              </a:rPr>
              <a:t>Guided KD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51460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Teacher 27B sinh trace có gold program nhúng vào prompt → student 4B học "chứng cứ → phép toán" thay vì sao chép đáp 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11880"/>
            <a:ext cx="777240" cy="100584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611880"/>
            <a:ext cx="1965960" cy="10058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PCPO reward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61188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R_valid · (0,7 + 0,2·R_exec + 0,1·R_bonus) đặt validity chương trình lên trước. Bịt lucky answer của RLVR thuần.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60"/>
            <a:ext cx="777240" cy="1005840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4709160"/>
            <a:ext cx="1965960" cy="10058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300" b="1">
                <a:solidFill>
                  <a:srgbClr val="2E8756"/>
                </a:solidFill>
                <a:latin typeface="Arial"/>
              </a:rPr>
              <a:t>Verifier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70916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Vote-on-program qua executor + verifier (valid + exec + brevity). Hướng mở rộng evidence để giảm hallucination căn cơ.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0720"/>
            <a:ext cx="8229600" cy="5029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50" b="1">
                <a:solidFill>
                  <a:srgbClr val="A50021"/>
                </a:solidFill>
                <a:latin typeface="Arial"/>
              </a:rPr>
              <a:t>Đường mở rộng: PCPO-Evidence + Grammar-constrained decoding + Agent verifier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</TotalTime>
  <Words>5307</Words>
  <Application>Microsoft Office PowerPoint</Application>
  <PresentationFormat>On-screen Show (4:3)</PresentationFormat>
  <Paragraphs>882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Lato</vt:lpstr>
      <vt:lpstr>Office Theme</vt:lpstr>
      <vt:lpstr>PowerPoint Presentation</vt:lpstr>
      <vt:lpstr>PowerPoint Presentation</vt:lpstr>
      <vt:lpstr>Mục lục báo cáo</vt:lpstr>
      <vt:lpstr>1. Bối cảnh và động cơ nghiên cứu</vt:lpstr>
      <vt:lpstr>2. Phát biểu hình thức bài toán</vt:lpstr>
      <vt:lpstr>3. Ví dụ minh họa với dữ liệu mẫu</vt:lpstr>
      <vt:lpstr>4. Phân tích thống kê bộ dữ liệu</vt:lpstr>
      <vt:lpstr>5. Ba nghiên cứu nền tảng — định vị</vt:lpstr>
      <vt:lpstr>6. Nghiên cứu nền tảng 1 — FinQA (EMNLP 2021)</vt:lpstr>
      <vt:lpstr>7. Nghiên cứu nền tảng 2 — Distilling Step-by-Step (ACL 2023)</vt:lpstr>
      <vt:lpstr>8. Nghiên cứu nền tảng 3 — GRPO trong DeepSeekMath (2024)</vt:lpstr>
      <vt:lpstr>9. Định vị đóng góp của đề tài</vt:lpstr>
      <vt:lpstr>10. Cơ sở lý thuyết &amp; định hướng thiết kế</vt:lpstr>
      <vt:lpstr>11. Tổng quan pipeline 5 phase</vt:lpstr>
      <vt:lpstr>12. Đóng góp 1 — Chiến lược dữ liệu hướng chương trình</vt:lpstr>
      <vt:lpstr>13. Financial DSL &amp; 4-strategy header matching</vt:lpstr>
      <vt:lpstr>14. Đóng góp 2 — Guided Reasoning Distillation</vt:lpstr>
      <vt:lpstr>15. Quality tiering 4 mức cho teacher trace</vt:lpstr>
      <vt:lpstr>16. Đóng góp 3 — LoRA-SFT với label masking</vt:lpstr>
      <vt:lpstr>17. So sánh PPO / DPO / RLVR / GRPO</vt:lpstr>
      <vt:lpstr>18. Đóng góp 4 — PCPO reward (đóng góp trọng tâm)</vt:lpstr>
      <vt:lpstr>19. Vòng lặp huấn luyện GRPO</vt:lpstr>
      <vt:lpstr>20. Đóng góp 5 — Verifier-guided multi-path inference</vt:lpstr>
      <vt:lpstr>21. Cài đặt thực nghiệm — phần cứng &amp; hyperparam</vt:lpstr>
      <vt:lpstr>22. Kết quả tổng thể trên ViNumQA valid</vt:lpstr>
      <vt:lpstr>23. Ablation: đóng góp tăng dần của từng tầng</vt:lpstr>
      <vt:lpstr>24. Phân tích lỗi và đường giải quyết</vt:lpstr>
      <vt:lpstr>25. Hạn chế và hướng phát triển</vt:lpstr>
      <vt:lpstr>26. Kết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Đỗ Thành Đức</cp:lastModifiedBy>
  <cp:revision>500</cp:revision>
  <dcterms:created xsi:type="dcterms:W3CDTF">2021-05-28T04:32:29Z</dcterms:created>
  <dcterms:modified xsi:type="dcterms:W3CDTF">2026-05-23T02:04:09Z</dcterms:modified>
</cp:coreProperties>
</file>